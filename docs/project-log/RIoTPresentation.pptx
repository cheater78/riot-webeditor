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30"/>
  </p:notesMasterIdLst>
  <p:handoutMasterIdLst>
    <p:handoutMasterId r:id="rId31"/>
  </p:handoutMasterIdLst>
  <p:sldIdLst>
    <p:sldId id="288" r:id="rId3"/>
    <p:sldId id="287" r:id="rId4"/>
    <p:sldId id="305" r:id="rId5"/>
    <p:sldId id="304" r:id="rId6"/>
    <p:sldId id="299" r:id="rId7"/>
    <p:sldId id="298" r:id="rId8"/>
    <p:sldId id="301" r:id="rId9"/>
    <p:sldId id="300" r:id="rId10"/>
    <p:sldId id="303" r:id="rId11"/>
    <p:sldId id="307" r:id="rId12"/>
    <p:sldId id="306" r:id="rId13"/>
    <p:sldId id="308" r:id="rId14"/>
    <p:sldId id="302" r:id="rId15"/>
    <p:sldId id="295" r:id="rId16"/>
    <p:sldId id="296" r:id="rId17"/>
    <p:sldId id="309" r:id="rId18"/>
    <p:sldId id="315" r:id="rId19"/>
    <p:sldId id="314" r:id="rId20"/>
    <p:sldId id="316" r:id="rId21"/>
    <p:sldId id="313" r:id="rId22"/>
    <p:sldId id="312" r:id="rId23"/>
    <p:sldId id="317" r:id="rId24"/>
    <p:sldId id="318" r:id="rId25"/>
    <p:sldId id="319" r:id="rId26"/>
    <p:sldId id="320" r:id="rId27"/>
    <p:sldId id="310" r:id="rId28"/>
    <p:sldId id="311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252526"/>
    <a:srgbClr val="97C6FF"/>
    <a:srgbClr val="323F4B"/>
    <a:srgbClr val="00008C"/>
    <a:srgbClr val="2F57B2"/>
    <a:srgbClr val="FFFFFF"/>
    <a:srgbClr val="000000"/>
    <a:srgbClr val="00005A"/>
    <a:srgbClr val="C8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69510" autoAdjust="0"/>
  </p:normalViewPr>
  <p:slideViewPr>
    <p:cSldViewPr snapToGrid="0" showGuides="1">
      <p:cViewPr varScale="1">
        <p:scale>
          <a:sx n="70" d="100"/>
          <a:sy n="70" d="100"/>
        </p:scale>
        <p:origin x="96" y="2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02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Stellt euch vor</a:t>
            </a:r>
          </a:p>
          <a:p>
            <a:endParaRPr lang="de-DE" dirty="0"/>
          </a:p>
          <a:p>
            <a:r>
              <a:rPr lang="de-DE" dirty="0" err="1"/>
              <a:t>website</a:t>
            </a:r>
            <a:r>
              <a:rPr lang="de-DE" dirty="0"/>
              <a:t> aufmachen</a:t>
            </a:r>
          </a:p>
          <a:p>
            <a:endParaRPr lang="de-DE" dirty="0"/>
          </a:p>
          <a:p>
            <a:r>
              <a:rPr lang="de-DE" dirty="0"/>
              <a:t>RIOT code schreiben </a:t>
            </a:r>
          </a:p>
          <a:p>
            <a:endParaRPr lang="de-DE" dirty="0"/>
          </a:p>
          <a:p>
            <a:r>
              <a:rPr lang="de-DE" dirty="0"/>
              <a:t>dann direkt einfach </a:t>
            </a:r>
            <a:r>
              <a:rPr lang="de-DE" dirty="0" err="1"/>
              <a:t>builden</a:t>
            </a:r>
            <a:r>
              <a:rPr lang="de-DE" dirty="0"/>
              <a:t> und </a:t>
            </a:r>
            <a:r>
              <a:rPr lang="de-DE" dirty="0" err="1"/>
              <a:t>flashen</a:t>
            </a:r>
            <a:endParaRPr lang="de-DE" dirty="0"/>
          </a:p>
          <a:p>
            <a:endParaRPr lang="de-DE" dirty="0"/>
          </a:p>
          <a:p>
            <a:r>
              <a:rPr lang="de-DE" dirty="0"/>
              <a:t>kein </a:t>
            </a:r>
            <a:r>
              <a:rPr lang="de-DE" dirty="0" err="1"/>
              <a:t>setup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platformunabhängig</a:t>
            </a: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31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05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Ziele im Rahmen unseres Projektes</a:t>
            </a:r>
          </a:p>
          <a:p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geräte</a:t>
            </a:r>
            <a:r>
              <a:rPr lang="de-DE" dirty="0"/>
              <a:t> von einem Browser </a:t>
            </a:r>
            <a:r>
              <a:rPr lang="de-DE" dirty="0" err="1"/>
              <a:t>flashen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fertiges </a:t>
            </a:r>
            <a:r>
              <a:rPr lang="de-DE" dirty="0" err="1"/>
              <a:t>dev</a:t>
            </a:r>
            <a:r>
              <a:rPr lang="de-DE" dirty="0"/>
              <a:t> </a:t>
            </a:r>
            <a:r>
              <a:rPr lang="de-DE" dirty="0" err="1"/>
              <a:t>env</a:t>
            </a:r>
            <a:r>
              <a:rPr lang="de-DE" dirty="0"/>
              <a:t> mit </a:t>
            </a:r>
            <a:r>
              <a:rPr lang="de-DE" dirty="0" err="1"/>
              <a:t>editor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shortcuts</a:t>
            </a:r>
            <a:r>
              <a:rPr lang="de-DE" dirty="0"/>
              <a:t> für Anfänger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möglichst nah an RIOT bleiben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einfache lokale Benutzung </a:t>
            </a:r>
          </a:p>
          <a:p>
            <a:pPr marL="171450" indent="-171450">
              <a:buFontTx/>
              <a:buChar char="-"/>
            </a:pPr>
            <a:r>
              <a:rPr lang="de-DE" dirty="0"/>
              <a:t>oder auch zentrales </a:t>
            </a:r>
            <a:r>
              <a:rPr lang="de-DE" dirty="0" err="1"/>
              <a:t>hosting</a:t>
            </a: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97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WebSite</a:t>
            </a:r>
            <a:r>
              <a:rPr lang="de-DE" dirty="0"/>
              <a:t> lässt keine direkte </a:t>
            </a:r>
            <a:r>
              <a:rPr lang="de-DE" dirty="0" err="1"/>
              <a:t>kommunikation</a:t>
            </a:r>
            <a:r>
              <a:rPr lang="de-DE" dirty="0"/>
              <a:t> mit </a:t>
            </a:r>
            <a:r>
              <a:rPr lang="de-DE" dirty="0" err="1"/>
              <a:t>geräten</a:t>
            </a:r>
            <a:r>
              <a:rPr lang="de-DE" dirty="0"/>
              <a:t> zu</a:t>
            </a:r>
          </a:p>
          <a:p>
            <a:pPr marL="171450" indent="-171450">
              <a:buFontTx/>
              <a:buChar char="-"/>
            </a:pPr>
            <a:r>
              <a:rPr lang="de-DE" dirty="0"/>
              <a:t>deswegen APIs</a:t>
            </a:r>
          </a:p>
          <a:p>
            <a:pPr marL="171450" indent="-171450">
              <a:buFontTx/>
              <a:buChar char="-"/>
            </a:pPr>
            <a:r>
              <a:rPr lang="de-DE" dirty="0"/>
              <a:t>so kann man zB auf USB Serielle oder HID </a:t>
            </a:r>
            <a:r>
              <a:rPr lang="de-DE" dirty="0" err="1"/>
              <a:t>geräte</a:t>
            </a:r>
            <a:r>
              <a:rPr lang="de-DE" dirty="0"/>
              <a:t> zugreifen</a:t>
            </a:r>
          </a:p>
          <a:p>
            <a:pPr marL="171450" indent="-171450">
              <a:buFontTx/>
              <a:buChar char="-"/>
            </a:pPr>
            <a:r>
              <a:rPr lang="de-DE" dirty="0"/>
              <a:t>diese APIs werden allerdings nicht von allen Browsern gleich unterstützt</a:t>
            </a:r>
          </a:p>
          <a:p>
            <a:pPr marL="171450" indent="-171450">
              <a:buFontTx/>
              <a:buChar char="-"/>
            </a:pPr>
            <a:r>
              <a:rPr lang="de-DE" dirty="0"/>
              <a:t>so wird </a:t>
            </a:r>
            <a:r>
              <a:rPr lang="de-DE" dirty="0" err="1"/>
              <a:t>WebSerial</a:t>
            </a:r>
            <a:r>
              <a:rPr lang="de-DE" dirty="0"/>
              <a:t> (was wir zum </a:t>
            </a:r>
            <a:r>
              <a:rPr lang="de-DE" dirty="0" err="1"/>
              <a:t>flahsen</a:t>
            </a:r>
            <a:r>
              <a:rPr lang="de-DE" dirty="0"/>
              <a:t> brauchen) nur auf </a:t>
            </a:r>
            <a:r>
              <a:rPr lang="de-DE" dirty="0" err="1"/>
              <a:t>chromium</a:t>
            </a:r>
            <a:r>
              <a:rPr lang="de-DE" dirty="0"/>
              <a:t> basierten </a:t>
            </a:r>
            <a:r>
              <a:rPr lang="de-DE" dirty="0" err="1"/>
              <a:t>browsern</a:t>
            </a:r>
            <a:r>
              <a:rPr lang="de-DE" dirty="0"/>
              <a:t> unterstützt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darüberhinaus</a:t>
            </a:r>
            <a:r>
              <a:rPr lang="de-DE" dirty="0"/>
              <a:t> ist web zugriff auf HW </a:t>
            </a:r>
            <a:r>
              <a:rPr lang="de-DE" dirty="0" err="1"/>
              <a:t>devices</a:t>
            </a:r>
            <a:r>
              <a:rPr lang="de-DE" dirty="0"/>
              <a:t> ein großes Sicherheitsrisiko</a:t>
            </a:r>
          </a:p>
          <a:p>
            <a:pPr marL="171450" indent="-171450">
              <a:buFontTx/>
              <a:buChar char="-"/>
            </a:pPr>
            <a:r>
              <a:rPr lang="de-DE" dirty="0"/>
              <a:t>weshalb man jedes Gerät einzeln zulassen muss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nun wenn man mit einem µC seriell kommunizieren kann,</a:t>
            </a:r>
          </a:p>
          <a:p>
            <a:pPr marL="171450" indent="-171450">
              <a:buFontTx/>
              <a:buChar char="-"/>
            </a:pPr>
            <a:r>
              <a:rPr lang="de-DE" dirty="0"/>
              <a:t>benötigt man </a:t>
            </a:r>
            <a:r>
              <a:rPr lang="de-DE" dirty="0" err="1"/>
              <a:t>immernoch</a:t>
            </a:r>
            <a:r>
              <a:rPr lang="de-DE" dirty="0"/>
              <a:t> einen </a:t>
            </a:r>
            <a:r>
              <a:rPr lang="de-DE" dirty="0" err="1"/>
              <a:t>flasher</a:t>
            </a:r>
            <a:r>
              <a:rPr lang="de-DE" dirty="0"/>
              <a:t> der </a:t>
            </a:r>
            <a:r>
              <a:rPr lang="de-DE" dirty="0" err="1"/>
              <a:t>impl</a:t>
            </a:r>
            <a:r>
              <a:rPr lang="de-DE" dirty="0"/>
              <a:t> in </a:t>
            </a:r>
            <a:r>
              <a:rPr lang="de-DE" dirty="0" err="1"/>
              <a:t>js</a:t>
            </a:r>
            <a:r>
              <a:rPr lang="de-DE" dirty="0"/>
              <a:t>, die </a:t>
            </a:r>
            <a:r>
              <a:rPr lang="de-DE" dirty="0" err="1"/>
              <a:t>compileten</a:t>
            </a:r>
            <a:r>
              <a:rPr lang="de-DE" dirty="0"/>
              <a:t> </a:t>
            </a:r>
            <a:r>
              <a:rPr lang="de-DE" dirty="0" err="1"/>
              <a:t>binaries</a:t>
            </a:r>
            <a:r>
              <a:rPr lang="de-DE" dirty="0"/>
              <a:t> auf den µC überträgt</a:t>
            </a:r>
          </a:p>
          <a:p>
            <a:pPr marL="171450" indent="-171450">
              <a:buFontTx/>
              <a:buChar char="-"/>
            </a:pPr>
            <a:r>
              <a:rPr lang="de-DE" dirty="0"/>
              <a:t>hängt vom </a:t>
            </a:r>
            <a:r>
              <a:rPr lang="de-DE" dirty="0" err="1"/>
              <a:t>device</a:t>
            </a:r>
            <a:r>
              <a:rPr lang="de-DE" dirty="0"/>
              <a:t> ab -&gt; mehrere </a:t>
            </a:r>
            <a:r>
              <a:rPr lang="de-DE" dirty="0" err="1"/>
              <a:t>flasher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eigene </a:t>
            </a:r>
            <a:r>
              <a:rPr lang="de-DE" dirty="0" err="1"/>
              <a:t>flasher</a:t>
            </a:r>
            <a:r>
              <a:rPr lang="de-DE" dirty="0"/>
              <a:t> zu schreiben ist nicht praktikabel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flashing</a:t>
            </a:r>
            <a:r>
              <a:rPr lang="de-DE" dirty="0"/>
              <a:t> </a:t>
            </a:r>
            <a:r>
              <a:rPr lang="de-DE" dirty="0" err="1"/>
              <a:t>websiten</a:t>
            </a:r>
            <a:r>
              <a:rPr lang="de-DE" dirty="0"/>
              <a:t> existieren, ABER:</a:t>
            </a:r>
          </a:p>
          <a:p>
            <a:pPr marL="171450" indent="-171450">
              <a:buFontTx/>
              <a:buChar char="-"/>
            </a:pPr>
            <a:r>
              <a:rPr lang="de-DE" dirty="0"/>
              <a:t>für spezifische </a:t>
            </a:r>
            <a:r>
              <a:rPr lang="de-DE" dirty="0" err="1"/>
              <a:t>devices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muss seine eigenen </a:t>
            </a:r>
            <a:r>
              <a:rPr lang="de-DE" dirty="0" err="1"/>
              <a:t>binaries</a:t>
            </a:r>
            <a:r>
              <a:rPr lang="de-DE" dirty="0"/>
              <a:t> hochladen</a:t>
            </a:r>
          </a:p>
          <a:p>
            <a:pPr marL="171450" indent="-171450">
              <a:buFontTx/>
              <a:buChar char="-"/>
            </a:pPr>
            <a:r>
              <a:rPr lang="de-DE" dirty="0"/>
              <a:t>nicht für alle </a:t>
            </a:r>
            <a:r>
              <a:rPr lang="de-DE" dirty="0" err="1"/>
              <a:t>geräte</a:t>
            </a:r>
            <a:r>
              <a:rPr lang="de-DE" dirty="0"/>
              <a:t> und wenn verteilt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können </a:t>
            </a:r>
            <a:r>
              <a:rPr lang="de-DE" dirty="0" err="1"/>
              <a:t>immernoch</a:t>
            </a:r>
            <a:r>
              <a:rPr lang="de-DE" dirty="0"/>
              <a:t> keinen eigenen Code schreiben, </a:t>
            </a:r>
            <a:r>
              <a:rPr lang="de-DE" dirty="0" err="1"/>
              <a:t>könn</a:t>
            </a:r>
            <a:r>
              <a:rPr lang="de-DE" dirty="0"/>
              <a:t> wir nicht </a:t>
            </a:r>
            <a:r>
              <a:rPr lang="de-DE" dirty="0" err="1"/>
              <a:t>iwie</a:t>
            </a:r>
            <a:r>
              <a:rPr lang="de-DE" dirty="0"/>
              <a:t> einen Editor hosten in dem wir auch </a:t>
            </a:r>
            <a:r>
              <a:rPr lang="de-DE" dirty="0" err="1"/>
              <a:t>flashen</a:t>
            </a:r>
            <a:r>
              <a:rPr lang="de-DE" dirty="0"/>
              <a:t> können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29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27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9D0E-05E5-F02E-779D-C74E1159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45A38-2962-C6F8-3CB4-CD6EAAAF7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4630E-94A1-BC8D-F805-523264EF8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ham</a:t>
            </a:r>
            <a:r>
              <a:rPr lang="de-DE" dirty="0"/>
              <a:t> uns web IDEs </a:t>
            </a:r>
            <a:r>
              <a:rPr lang="de-DE" dirty="0" err="1"/>
              <a:t>angeguggt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viele haben Monaco als Frontend, bekannt von </a:t>
            </a:r>
            <a:r>
              <a:rPr lang="de-DE" dirty="0" err="1"/>
              <a:t>VSCode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VSCode</a:t>
            </a:r>
            <a:r>
              <a:rPr lang="de-DE" dirty="0"/>
              <a:t> für viele vertraut</a:t>
            </a:r>
          </a:p>
          <a:p>
            <a:pPr marL="171450" indent="-171450">
              <a:buFontTx/>
              <a:buChar char="-"/>
            </a:pPr>
            <a:r>
              <a:rPr lang="de-DE" dirty="0"/>
              <a:t>unterstütz </a:t>
            </a:r>
            <a:r>
              <a:rPr lang="de-DE" dirty="0" err="1"/>
              <a:t>Extensions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coder</a:t>
            </a:r>
            <a:r>
              <a:rPr lang="de-DE" dirty="0"/>
              <a:t>/code-server kann einfach </a:t>
            </a:r>
            <a:r>
              <a:rPr lang="de-DE" dirty="0" err="1"/>
              <a:t>gehosted</a:t>
            </a:r>
            <a:r>
              <a:rPr lang="de-DE" dirty="0"/>
              <a:t> werden um eine Web IDE bereit zustellen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IDEE: </a:t>
            </a:r>
            <a:r>
              <a:rPr lang="de-DE" dirty="0" err="1"/>
              <a:t>vscode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 zum </a:t>
            </a:r>
            <a:r>
              <a:rPr lang="de-DE" dirty="0" err="1"/>
              <a:t>flashen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auto</a:t>
            </a:r>
            <a:r>
              <a:rPr lang="de-DE" dirty="0"/>
              <a:t> deploy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geräteverwaltung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in Kontrast zu anderen </a:t>
            </a:r>
            <a:r>
              <a:rPr lang="de-DE" dirty="0" err="1"/>
              <a:t>Flasher</a:t>
            </a:r>
            <a:r>
              <a:rPr lang="de-DE" dirty="0"/>
              <a:t> Websites -&gt; seinen code direkt </a:t>
            </a:r>
            <a:r>
              <a:rPr lang="de-DE" dirty="0" err="1"/>
              <a:t>builden</a:t>
            </a:r>
            <a:r>
              <a:rPr lang="de-DE" dirty="0"/>
              <a:t> und </a:t>
            </a:r>
            <a:r>
              <a:rPr lang="de-DE" dirty="0" err="1"/>
              <a:t>flashen</a:t>
            </a:r>
            <a:r>
              <a:rPr lang="de-DE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D8344-AA30-ABA3-A9B9-B40D427EE6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80744-32DE-C7ED-5F85-E1FF5C54B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22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87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8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frontend:</a:t>
            </a:r>
          </a:p>
          <a:p>
            <a:pPr marL="628650" lvl="1" indent="-171450">
              <a:buFontTx/>
              <a:buChar char="-"/>
            </a:pPr>
            <a:r>
              <a:rPr lang="de-DE" dirty="0" err="1"/>
              <a:t>Vsccode</a:t>
            </a:r>
            <a:r>
              <a:rPr lang="de-DE" dirty="0"/>
              <a:t> ext</a:t>
            </a:r>
          </a:p>
          <a:p>
            <a:pPr marL="628650" lvl="1" indent="-171450">
              <a:buFontTx/>
              <a:buChar char="-"/>
            </a:pPr>
            <a:r>
              <a:rPr lang="de-DE" dirty="0" err="1"/>
              <a:t>Commadlines</a:t>
            </a:r>
            <a:endParaRPr lang="de-DE" dirty="0"/>
          </a:p>
          <a:p>
            <a:pPr marL="171450" lvl="0" indent="-171450">
              <a:buFontTx/>
              <a:buChar char="-"/>
            </a:pPr>
            <a:endParaRPr lang="de-DE" dirty="0"/>
          </a:p>
          <a:p>
            <a:pPr marL="171450" lvl="0" indent="-171450">
              <a:buFontTx/>
              <a:buChar char="-"/>
            </a:pPr>
            <a:r>
              <a:rPr lang="de-DE" dirty="0"/>
              <a:t>backend: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code-server</a:t>
            </a:r>
          </a:p>
          <a:p>
            <a:pPr marL="628650" lvl="1" indent="-171450">
              <a:buFontTx/>
              <a:buChar char="-"/>
            </a:pPr>
            <a:r>
              <a:rPr lang="de-DE" dirty="0" err="1"/>
              <a:t>nutzer</a:t>
            </a:r>
            <a:r>
              <a:rPr lang="de-DE" dirty="0"/>
              <a:t> input in cli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viele CLIs – eine </a:t>
            </a:r>
            <a:r>
              <a:rPr lang="de-DE" dirty="0" err="1"/>
              <a:t>extension</a:t>
            </a:r>
            <a:r>
              <a:rPr lang="de-DE" dirty="0"/>
              <a:t> -&gt; </a:t>
            </a:r>
            <a:r>
              <a:rPr lang="de-DE" dirty="0" err="1"/>
              <a:t>relay</a:t>
            </a:r>
            <a:r>
              <a:rPr lang="de-DE" dirty="0"/>
              <a:t> (EINE CONNECTION, zentraler host)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erlaubt </a:t>
            </a:r>
            <a:r>
              <a:rPr lang="de-DE" dirty="0" err="1"/>
              <a:t>buttons</a:t>
            </a:r>
            <a:r>
              <a:rPr lang="de-DE" dirty="0"/>
              <a:t> -&gt;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shortcut</a:t>
            </a:r>
            <a:r>
              <a:rPr lang="de-DE" dirty="0"/>
              <a:t> -&gt; </a:t>
            </a:r>
            <a:r>
              <a:rPr lang="de-DE" dirty="0" err="1"/>
              <a:t>command</a:t>
            </a:r>
            <a:r>
              <a:rPr lang="de-DE" dirty="0"/>
              <a:t> sichtbar</a:t>
            </a:r>
          </a:p>
          <a:p>
            <a:pPr marL="628650" lvl="1" indent="-171450">
              <a:buFontTx/>
              <a:buChar char="-"/>
            </a:pPr>
            <a:endParaRPr lang="de-DE" dirty="0"/>
          </a:p>
          <a:p>
            <a:pPr marL="628650" lvl="1" indent="-171450">
              <a:buFontTx/>
              <a:buChar char="-"/>
            </a:pPr>
            <a:r>
              <a:rPr lang="de-DE" dirty="0"/>
              <a:t>2 fragen offen:</a:t>
            </a:r>
          </a:p>
          <a:p>
            <a:pPr marL="1085850" lvl="2" indent="-171450">
              <a:buFontTx/>
              <a:buChar char="-"/>
            </a:pPr>
            <a:r>
              <a:rPr lang="de-DE" dirty="0"/>
              <a:t>Kommunikation Shell – </a:t>
            </a:r>
            <a:r>
              <a:rPr lang="de-DE" dirty="0" err="1"/>
              <a:t>WebExtension</a:t>
            </a:r>
            <a:endParaRPr lang="de-DE" dirty="0"/>
          </a:p>
          <a:p>
            <a:pPr marL="1085850" lvl="2" indent="-171450">
              <a:buFontTx/>
              <a:buChar char="-"/>
            </a:pPr>
            <a:r>
              <a:rPr lang="de-DE" dirty="0"/>
              <a:t>Stub</a:t>
            </a:r>
          </a:p>
          <a:p>
            <a:pPr marL="628650" lvl="1" indent="-171450">
              <a:buFontTx/>
              <a:buChar char="-"/>
            </a:pPr>
            <a:endParaRPr lang="de-DE" dirty="0"/>
          </a:p>
          <a:p>
            <a:pPr marL="628650" lvl="1" indent="-171450">
              <a:buFontTx/>
              <a:buChar char="-"/>
            </a:pPr>
            <a:endParaRPr lang="de-DE" dirty="0"/>
          </a:p>
          <a:p>
            <a:pPr marL="628650" lvl="1" indent="-171450">
              <a:buFontTx/>
              <a:buChar char="-"/>
            </a:pP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40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Mischung: Human + </a:t>
            </a:r>
            <a:r>
              <a:rPr lang="de-DE" dirty="0" err="1"/>
              <a:t>compakt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mehrere </a:t>
            </a:r>
            <a:r>
              <a:rPr lang="de-DE" dirty="0" err="1"/>
              <a:t>geräte</a:t>
            </a:r>
            <a:r>
              <a:rPr lang="de-DE" dirty="0"/>
              <a:t>, mehrere </a:t>
            </a:r>
            <a:r>
              <a:rPr lang="de-DE" dirty="0" err="1"/>
              <a:t>shells</a:t>
            </a:r>
            <a:r>
              <a:rPr lang="de-DE" dirty="0"/>
              <a:t> -&gt; parallel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stateful</a:t>
            </a:r>
            <a:r>
              <a:rPr lang="de-DE" dirty="0"/>
              <a:t> -&gt; WS + registrieren </a:t>
            </a:r>
            <a:r>
              <a:rPr lang="de-DE" dirty="0" err="1"/>
              <a:t>Addressen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Struktur: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typ</a:t>
            </a:r>
          </a:p>
          <a:p>
            <a:pPr marL="628650" lvl="1" indent="-171450">
              <a:buFontTx/>
              <a:buChar char="-"/>
            </a:pPr>
            <a:r>
              <a:rPr lang="de-DE" dirty="0" err="1"/>
              <a:t>sender</a:t>
            </a:r>
            <a:endParaRPr lang="de-DE" dirty="0"/>
          </a:p>
          <a:p>
            <a:pPr marL="628650" lvl="1" indent="-171450">
              <a:buFontTx/>
              <a:buChar char="-"/>
            </a:pPr>
            <a:r>
              <a:rPr lang="de-DE" dirty="0" err="1"/>
              <a:t>empfänger</a:t>
            </a:r>
            <a:endParaRPr lang="de-DE" dirty="0"/>
          </a:p>
          <a:p>
            <a:pPr marL="628650" lvl="1" indent="-171450">
              <a:buFontTx/>
              <a:buChar char="-"/>
            </a:pPr>
            <a:r>
              <a:rPr lang="de-DE" dirty="0" err="1"/>
              <a:t>payload</a:t>
            </a:r>
            <a:r>
              <a:rPr lang="de-DE" dirty="0"/>
              <a:t> </a:t>
            </a:r>
            <a:r>
              <a:rPr lang="de-DE" dirty="0" err="1"/>
              <a:t>felder</a:t>
            </a:r>
            <a:endParaRPr lang="de-DE" dirty="0"/>
          </a:p>
          <a:p>
            <a:pPr marL="1085850" lvl="2" indent="-171450">
              <a:buFontTx/>
              <a:buChar char="-"/>
            </a:pPr>
            <a:r>
              <a:rPr lang="de-DE" dirty="0"/>
              <a:t>hier </a:t>
            </a:r>
            <a:r>
              <a:rPr lang="de-DE" dirty="0" err="1"/>
              <a:t>Flashcommand</a:t>
            </a: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48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parsing</a:t>
            </a:r>
            <a:r>
              <a:rPr lang="de-DE" dirty="0"/>
              <a:t> </a:t>
            </a:r>
            <a:r>
              <a:rPr lang="de-DE" dirty="0" err="1"/>
              <a:t>problem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patch</a:t>
            </a:r>
            <a:r>
              <a:rPr lang="de-DE" dirty="0"/>
              <a:t> </a:t>
            </a:r>
            <a:r>
              <a:rPr lang="de-DE" dirty="0" err="1"/>
              <a:t>riot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call</a:t>
            </a:r>
            <a:r>
              <a:rPr lang="de-DE" dirty="0"/>
              <a:t> </a:t>
            </a:r>
            <a:r>
              <a:rPr lang="de-DE" dirty="0" err="1"/>
              <a:t>stub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commands</a:t>
            </a:r>
            <a:r>
              <a:rPr lang="de-DE" dirty="0"/>
              <a:t> zum Client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output</a:t>
            </a:r>
            <a:r>
              <a:rPr lang="de-DE" dirty="0"/>
              <a:t> anzeigen</a:t>
            </a:r>
          </a:p>
          <a:p>
            <a:pPr marL="171450" indent="-171450">
              <a:buFontTx/>
              <a:buChar char="-"/>
            </a:pPr>
            <a:r>
              <a:rPr lang="de-DE" dirty="0"/>
              <a:t>input an </a:t>
            </a:r>
            <a:r>
              <a:rPr lang="de-DE" dirty="0" err="1"/>
              <a:t>CLient</a:t>
            </a: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9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238F-824A-54DD-6279-D43B9BDA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67954-3F76-1016-2376-9984ECE8A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15027-6A11-6B07-C150-C632DFDF0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D8FF5-9B38-0883-D8F4-8F87F8CD7B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4687B-6D75-FE70-75E5-117EB8C3C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57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Gerätezugriff durch Web APIs ist erschwert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VSCode</a:t>
            </a:r>
            <a:r>
              <a:rPr lang="de-DE" dirty="0"/>
              <a:t> Web </a:t>
            </a:r>
            <a:r>
              <a:rPr lang="de-DE" dirty="0" err="1"/>
              <a:t>Extensions</a:t>
            </a:r>
            <a:r>
              <a:rPr lang="de-DE" dirty="0"/>
              <a:t> an vielen Punkten (aus Sicherheitsgründen) beschränkt</a:t>
            </a:r>
          </a:p>
          <a:p>
            <a:pPr marL="171450" indent="-171450">
              <a:buFontTx/>
              <a:buChar char="-"/>
            </a:pPr>
            <a:r>
              <a:rPr lang="de-DE" dirty="0"/>
              <a:t>Neue Geräte müssen manuell eingebaut werden -&gt; </a:t>
            </a:r>
            <a:r>
              <a:rPr lang="de-DE" dirty="0" err="1"/>
              <a:t>flasher</a:t>
            </a:r>
            <a:r>
              <a:rPr lang="de-DE" dirty="0"/>
              <a:t> + </a:t>
            </a:r>
            <a:r>
              <a:rPr lang="de-DE" dirty="0" err="1"/>
              <a:t>make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Treiber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6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32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workspace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open </a:t>
            </a:r>
            <a:r>
              <a:rPr lang="de-DE" dirty="0" err="1"/>
              <a:t>shell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add</a:t>
            </a:r>
            <a:r>
              <a:rPr lang="de-DE" dirty="0"/>
              <a:t> esp32 (</a:t>
            </a:r>
            <a:r>
              <a:rPr lang="de-DE" dirty="0" err="1"/>
              <a:t>hello</a:t>
            </a:r>
            <a:r>
              <a:rPr lang="de-DE" dirty="0"/>
              <a:t> </a:t>
            </a:r>
            <a:r>
              <a:rPr lang="de-DE" dirty="0" err="1"/>
              <a:t>world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flash</a:t>
            </a:r>
            <a:r>
              <a:rPr lang="de-DE" dirty="0"/>
              <a:t> esp32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term</a:t>
            </a:r>
            <a:r>
              <a:rPr lang="de-DE" dirty="0"/>
              <a:t> (offen)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adafruit</a:t>
            </a:r>
            <a:r>
              <a:rPr lang="de-DE" dirty="0"/>
              <a:t> (</a:t>
            </a:r>
            <a:r>
              <a:rPr lang="de-DE" dirty="0" err="1"/>
              <a:t>shell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flash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term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cd </a:t>
            </a:r>
            <a:r>
              <a:rPr lang="de-DE" dirty="0" err="1"/>
              <a:t>timer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keyup</a:t>
            </a:r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799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99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99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88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2.svg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Schriftgröße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/>
              <a:t>Mastertextformat Schriftgröße 20pt</a:t>
            </a:r>
            <a:br>
              <a:rPr lang="de-DE" dirty="0"/>
            </a:br>
            <a:r>
              <a:rPr lang="de-DE" dirty="0"/>
              <a:t>(Kann vergrößert werden auf 24pt, Minimum Schriftgröße 16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 Schriftgrößen wurde in folgenden Räumen getestet</a:t>
            </a:r>
          </a:p>
          <a:p>
            <a:pPr lvl="2"/>
            <a:r>
              <a:rPr lang="de-DE" dirty="0"/>
              <a:t>HSZ Audimax</a:t>
            </a:r>
          </a:p>
          <a:p>
            <a:pPr lvl="2"/>
            <a:r>
              <a:rPr lang="de-DE" dirty="0"/>
              <a:t>HSZ Hörsaal 3</a:t>
            </a:r>
          </a:p>
          <a:p>
            <a:pPr lvl="2"/>
            <a:r>
              <a:rPr lang="de-DE" dirty="0"/>
              <a:t>HSZ Seminarraum klein</a:t>
            </a:r>
          </a:p>
          <a:p>
            <a:pPr lvl="1"/>
            <a:r>
              <a:rPr lang="de-DE" dirty="0"/>
              <a:t>In allen drei Räumen ist 20 und 24 </a:t>
            </a:r>
            <a:r>
              <a:rPr lang="de-DE" dirty="0" err="1"/>
              <a:t>pt</a:t>
            </a:r>
            <a:r>
              <a:rPr lang="de-DE" dirty="0"/>
              <a:t> gut lesbar. Im </a:t>
            </a:r>
            <a:r>
              <a:rPr lang="de-DE" dirty="0" err="1"/>
              <a:t>Seminaraum</a:t>
            </a:r>
            <a:r>
              <a:rPr lang="de-DE" dirty="0"/>
              <a:t> ist 16 </a:t>
            </a:r>
            <a:r>
              <a:rPr lang="de-DE" dirty="0" err="1"/>
              <a:t>pt</a:t>
            </a:r>
            <a:r>
              <a:rPr lang="de-DE" dirty="0"/>
              <a:t> grenzwertig klein.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8075614" y="6057900"/>
            <a:ext cx="3506786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Platz für Zweitlogos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D2337E2-6B3B-430B-8F0C-236691AFA7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BF6A3ED-341B-442E-8210-E4319907CA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rgbClr val="00008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338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A579EDF-77CB-4860-8B94-3DF47A80CB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430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02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995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43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65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85D84F3-0188-409A-9BD3-30A16A8588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7251700 w 12192000"/>
              <a:gd name="connsiteY1" fmla="*/ 1270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7785100"/>
              <a:gd name="connsiteY0" fmla="*/ 0 h 6858000"/>
              <a:gd name="connsiteX1" fmla="*/ 7251700 w 7785100"/>
              <a:gd name="connsiteY1" fmla="*/ 12700 h 6858000"/>
              <a:gd name="connsiteX2" fmla="*/ 7785100 w 7785100"/>
              <a:gd name="connsiteY2" fmla="*/ 6832600 h 6858000"/>
              <a:gd name="connsiteX3" fmla="*/ 0 w 7785100"/>
              <a:gd name="connsiteY3" fmla="*/ 6858000 h 6858000"/>
              <a:gd name="connsiteX4" fmla="*/ 0 w 7785100"/>
              <a:gd name="connsiteY4" fmla="*/ 0 h 6858000"/>
              <a:gd name="connsiteX0" fmla="*/ 0 w 8682083"/>
              <a:gd name="connsiteY0" fmla="*/ 0 h 6858000"/>
              <a:gd name="connsiteX1" fmla="*/ 8148683 w 8682083"/>
              <a:gd name="connsiteY1" fmla="*/ 12700 h 6858000"/>
              <a:gd name="connsiteX2" fmla="*/ 8682083 w 8682083"/>
              <a:gd name="connsiteY2" fmla="*/ 6832600 h 6858000"/>
              <a:gd name="connsiteX3" fmla="*/ 896983 w 8682083"/>
              <a:gd name="connsiteY3" fmla="*/ 6858000 h 6858000"/>
              <a:gd name="connsiteX4" fmla="*/ 0 w 8682083"/>
              <a:gd name="connsiteY4" fmla="*/ 0 h 6858000"/>
              <a:gd name="connsiteX0" fmla="*/ 26126 w 8708209"/>
              <a:gd name="connsiteY0" fmla="*/ 0 h 6840583"/>
              <a:gd name="connsiteX1" fmla="*/ 8174809 w 8708209"/>
              <a:gd name="connsiteY1" fmla="*/ 12700 h 6840583"/>
              <a:gd name="connsiteX2" fmla="*/ 8708209 w 8708209"/>
              <a:gd name="connsiteY2" fmla="*/ 6832600 h 6840583"/>
              <a:gd name="connsiteX3" fmla="*/ 0 w 8708209"/>
              <a:gd name="connsiteY3" fmla="*/ 6840583 h 6840583"/>
              <a:gd name="connsiteX4" fmla="*/ 26126 w 8708209"/>
              <a:gd name="connsiteY4" fmla="*/ 0 h 684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7289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3CC3083-A26C-4FFF-ABB9-A52A975CA5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56864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62833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7508875"/>
              <a:gd name="connsiteY0" fmla="*/ 0 h 6858000"/>
              <a:gd name="connsiteX1" fmla="*/ 6283325 w 7508875"/>
              <a:gd name="connsiteY1" fmla="*/ 0 h 6858000"/>
              <a:gd name="connsiteX2" fmla="*/ 7508875 w 7508875"/>
              <a:gd name="connsiteY2" fmla="*/ 6858000 h 6858000"/>
              <a:gd name="connsiteX3" fmla="*/ 0 w 7508875"/>
              <a:gd name="connsiteY3" fmla="*/ 6858000 h 6858000"/>
              <a:gd name="connsiteX4" fmla="*/ 0 w 750887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47605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1CBF57BC-B38C-414F-92BB-F40579F88E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6388" y="6207760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bg1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79C7FCDB-8A5F-4D8C-B998-2CC83B8C89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52599"/>
            <a:ext cx="4441825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459102"/>
            <a:ext cx="4441824" cy="138289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67325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11" name="Grafik 10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3CEFA202-FC75-4BA0-ACC7-222E3B636E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Flashing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RIOT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a Browser • Fabio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Lehmberg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, Jakob Fregin • Seite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705" r:id="rId3"/>
    <p:sldLayoutId id="2147483780" r:id="rId4"/>
    <p:sldLayoutId id="2147483781" r:id="rId5"/>
    <p:sldLayoutId id="2147483782" r:id="rId6"/>
    <p:sldLayoutId id="2147483783" r:id="rId7"/>
    <p:sldLayoutId id="2147483776" r:id="rId8"/>
    <p:sldLayoutId id="2147483784" r:id="rId9"/>
    <p:sldLayoutId id="2147483785" r:id="rId10"/>
    <p:sldLayoutId id="2147483769" r:id="rId11"/>
    <p:sldLayoutId id="2147483778" r:id="rId12"/>
    <p:sldLayoutId id="2147483779" r:id="rId13"/>
    <p:sldLayoutId id="2147483710" r:id="rId14"/>
    <p:sldLayoutId id="2147483652" r:id="rId15"/>
    <p:sldLayoutId id="2147483709" r:id="rId16"/>
    <p:sldLayoutId id="2147483656" r:id="rId17"/>
    <p:sldLayoutId id="2147483665" r:id="rId18"/>
    <p:sldLayoutId id="2147483657" r:id="rId19"/>
    <p:sldLayoutId id="2147483666" r:id="rId20"/>
    <p:sldLayoutId id="2147483654" r:id="rId21"/>
    <p:sldLayoutId id="2147483655" r:id="rId22"/>
    <p:sldLayoutId id="2147483694" r:id="rId23"/>
    <p:sldLayoutId id="2147483695" r:id="rId24"/>
    <p:sldLayoutId id="2147483696" r:id="rId25"/>
    <p:sldLayoutId id="2147483777" r:id="rId26"/>
    <p:sldLayoutId id="2147483771" r:id="rId27"/>
    <p:sldLayoutId id="2147483772" r:id="rId28"/>
    <p:sldLayoutId id="2147483773" r:id="rId29"/>
    <p:sldLayoutId id="2147483775" r:id="rId30"/>
    <p:sldLayoutId id="2147483774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06" r:id="rId8"/>
    <p:sldLayoutId id="2147483767" r:id="rId9"/>
    <p:sldLayoutId id="2147483768" r:id="rId10"/>
    <p:sldLayoutId id="21474837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rkolores/RIOT-VS-Code-Extension" TargetMode="External"/><Relationship Id="rId2" Type="http://schemas.openxmlformats.org/officeDocument/2006/relationships/hyperlink" Target="https://github.com/cheater78/RIOT-WebEditor" TargetMode="Externa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Flashing</a:t>
            </a:r>
            <a:r>
              <a:rPr lang="de-DE" dirty="0"/>
              <a:t> RIOT </a:t>
            </a:r>
            <a:r>
              <a:rPr lang="de-DE" dirty="0" err="1"/>
              <a:t>from</a:t>
            </a:r>
            <a:r>
              <a:rPr lang="de-DE" dirty="0"/>
              <a:t> a Browser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Fabio </a:t>
            </a:r>
            <a:r>
              <a:rPr lang="de-DE" dirty="0" err="1"/>
              <a:t>Lehmberg</a:t>
            </a:r>
            <a:r>
              <a:rPr lang="de-DE" dirty="0"/>
              <a:t> and Jakob Fregin</a:t>
            </a:r>
          </a:p>
          <a:p>
            <a:r>
              <a:rPr lang="de-DE" dirty="0"/>
              <a:t>Dresden, 26.03.2026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3C57DC0-CDAD-4228-BA26-3D1CE1558B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824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D86F-4602-F298-2755-82115100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1257A-F57C-5E85-BD80-66D8B756B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280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150F-2A8B-139D-D542-F85CDE5D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7A18229-A82B-F2E0-714C-1B07CE4F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29E70D-E692-8B7D-B18A-735FAF455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open a </a:t>
            </a:r>
            <a:r>
              <a:rPr lang="de-DE" dirty="0" err="1"/>
              <a:t>website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RIOT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connect and </a:t>
            </a:r>
            <a:r>
              <a:rPr lang="de-DE" dirty="0" err="1"/>
              <a:t>flash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device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setup</a:t>
            </a:r>
            <a:endParaRPr lang="de-DE" dirty="0"/>
          </a:p>
          <a:p>
            <a:pPr marL="576263" lvl="2" indent="-342900"/>
            <a:r>
              <a:rPr lang="de-DE" dirty="0" err="1"/>
              <a:t>toolchain</a:t>
            </a:r>
            <a:endParaRPr lang="de-DE" dirty="0"/>
          </a:p>
          <a:p>
            <a:pPr marL="576263" lvl="2" indent="-342900"/>
            <a:r>
              <a:rPr lang="de-DE" dirty="0"/>
              <a:t>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dependecy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341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92CB-C7EF-262A-5EF6-7E5CB243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17AE-918C-7373-C2B5-56040ED7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D0CA7-75EC-F8FE-ACEF-FA4993C42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14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201C-6A4C-B11E-5733-32F93DC3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85FD38C-FF4D-0144-80E2-B54A95B0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D6677DD-065E-D192-3F32-008DCB502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flash</a:t>
            </a:r>
            <a:r>
              <a:rPr lang="de-DE" dirty="0"/>
              <a:t> RIOT </a:t>
            </a:r>
            <a:r>
              <a:rPr lang="de-DE" dirty="0" err="1"/>
              <a:t>boards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browser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provide</a:t>
            </a:r>
            <a:r>
              <a:rPr lang="de-DE" dirty="0"/>
              <a:t> a code </a:t>
            </a:r>
            <a:r>
              <a:rPr lang="de-DE" dirty="0" err="1"/>
              <a:t>editor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website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ready</a:t>
            </a:r>
            <a:r>
              <a:rPr lang="de-DE" dirty="0"/>
              <a:t>-to-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environment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ease-of-use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newcomers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keep</a:t>
            </a:r>
            <a:r>
              <a:rPr lang="de-DE" dirty="0"/>
              <a:t> to a RIOT native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ease-of-deployment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168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3681-6F0B-EBC7-B9AE-9D191E91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D31A7-3924-5349-BF57-AE869D28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to </a:t>
            </a:r>
            <a:r>
              <a:rPr lang="de-DE" dirty="0" err="1"/>
              <a:t>flash</a:t>
            </a:r>
            <a:r>
              <a:rPr lang="de-DE" dirty="0"/>
              <a:t> an MCU </a:t>
            </a:r>
            <a:r>
              <a:rPr lang="de-DE" dirty="0" err="1"/>
              <a:t>from</a:t>
            </a:r>
            <a:r>
              <a:rPr lang="de-DE" dirty="0"/>
              <a:t> a Browser?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11549-D7DC-D1CD-8928-98B75863B9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805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6C80-217D-0746-95E3-57579B5D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AFC245CA-5C22-61A6-D103-115EB5E0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to </a:t>
            </a:r>
            <a:r>
              <a:rPr lang="de-DE" dirty="0" err="1"/>
              <a:t>flash</a:t>
            </a:r>
            <a:r>
              <a:rPr lang="de-DE" dirty="0"/>
              <a:t> an MCU </a:t>
            </a:r>
            <a:r>
              <a:rPr lang="de-DE" dirty="0" err="1"/>
              <a:t>from</a:t>
            </a:r>
            <a:r>
              <a:rPr lang="de-DE" dirty="0"/>
              <a:t> a Browser?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92FCB59-3EE2-E715-CFAB-FC220E0CB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APIs: </a:t>
            </a:r>
            <a:r>
              <a:rPr lang="de-DE" dirty="0" err="1"/>
              <a:t>WebUSB</a:t>
            </a:r>
            <a:r>
              <a:rPr lang="de-DE" dirty="0"/>
              <a:t>, </a:t>
            </a:r>
            <a:r>
              <a:rPr lang="de-DE" dirty="0" err="1"/>
              <a:t>WebSerial</a:t>
            </a:r>
            <a:r>
              <a:rPr lang="de-DE" dirty="0"/>
              <a:t>, </a:t>
            </a:r>
            <a:r>
              <a:rPr lang="de-DE" dirty="0" err="1"/>
              <a:t>WebHID</a:t>
            </a:r>
            <a:endParaRPr lang="de-DE" dirty="0"/>
          </a:p>
          <a:p>
            <a:pPr marL="576263" lvl="2" indent="-342900"/>
            <a:r>
              <a:rPr lang="de-DE" dirty="0"/>
              <a:t>limited </a:t>
            </a:r>
            <a:r>
              <a:rPr lang="de-DE" dirty="0" err="1"/>
              <a:t>device</a:t>
            </a:r>
            <a:r>
              <a:rPr lang="de-DE" dirty="0"/>
              <a:t> </a:t>
            </a:r>
            <a:r>
              <a:rPr lang="de-DE" dirty="0" err="1"/>
              <a:t>access</a:t>
            </a:r>
            <a:endParaRPr lang="de-DE" dirty="0"/>
          </a:p>
          <a:p>
            <a:pPr marL="576263" lvl="2" indent="-342900"/>
            <a:r>
              <a:rPr lang="de-DE" dirty="0"/>
              <a:t>support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chromium-based</a:t>
            </a:r>
            <a:r>
              <a:rPr lang="de-DE" dirty="0"/>
              <a:t> </a:t>
            </a:r>
            <a:r>
              <a:rPr lang="de-DE" dirty="0" err="1"/>
              <a:t>browsers</a:t>
            </a:r>
            <a:r>
              <a:rPr lang="de-DE" dirty="0"/>
              <a:t> </a:t>
            </a:r>
            <a:r>
              <a:rPr lang="de-DE" dirty="0" err="1"/>
              <a:t>only</a:t>
            </a:r>
            <a:endParaRPr lang="de-DE" dirty="0"/>
          </a:p>
          <a:p>
            <a:pPr marL="576263" lvl="2" indent="-342900"/>
            <a:r>
              <a:rPr lang="de-DE" dirty="0" err="1"/>
              <a:t>serial</a:t>
            </a:r>
            <a:r>
              <a:rPr lang="de-DE" dirty="0"/>
              <a:t> </a:t>
            </a:r>
            <a:r>
              <a:rPr lang="de-DE" dirty="0" err="1"/>
              <a:t>flashing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common</a:t>
            </a:r>
            <a:endParaRPr lang="de-DE" dirty="0"/>
          </a:p>
          <a:p>
            <a:pPr marL="576263" lvl="2" indent="-342900"/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flashing</a:t>
            </a:r>
            <a:r>
              <a:rPr lang="de-DE" dirty="0"/>
              <a:t> a </a:t>
            </a:r>
            <a:r>
              <a:rPr lang="de-DE" dirty="0" err="1"/>
              <a:t>device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WebSerial</a:t>
            </a:r>
            <a:endParaRPr lang="de-DE" dirty="0"/>
          </a:p>
          <a:p>
            <a:pPr marL="576263" lvl="2" indent="-342900"/>
            <a:r>
              <a:rPr lang="de-DE" dirty="0"/>
              <a:t>still </a:t>
            </a:r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flasher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in </a:t>
            </a:r>
            <a:r>
              <a:rPr lang="de-DE" dirty="0" err="1"/>
              <a:t>js</a:t>
            </a:r>
            <a:endParaRPr lang="de-DE" dirty="0"/>
          </a:p>
          <a:p>
            <a:pPr marL="576263" lvl="2" indent="-342900"/>
            <a:r>
              <a:rPr lang="de-DE" dirty="0" err="1"/>
              <a:t>device</a:t>
            </a:r>
            <a:r>
              <a:rPr lang="de-DE" dirty="0"/>
              <a:t> </a:t>
            </a:r>
            <a:r>
              <a:rPr lang="de-DE" dirty="0" err="1"/>
              <a:t>dependend</a:t>
            </a:r>
            <a:r>
              <a:rPr lang="de-DE" dirty="0"/>
              <a:t> </a:t>
            </a:r>
          </a:p>
          <a:p>
            <a:pPr marL="576263" lvl="2" indent="-342900"/>
            <a:r>
              <a:rPr lang="de-DE" dirty="0" err="1"/>
              <a:t>implementing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own </a:t>
            </a:r>
            <a:r>
              <a:rPr lang="de-DE" dirty="0" err="1"/>
              <a:t>flasher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trivial</a:t>
            </a:r>
          </a:p>
        </p:txBody>
      </p:sp>
    </p:spTree>
    <p:extLst>
      <p:ext uri="{BB962C8B-B14F-4D97-AF65-F5344CB8AC3E}">
        <p14:creationId xmlns:p14="http://schemas.microsoft.com/office/powerpoint/2010/main" val="118664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A887-101E-1903-8C8E-185075E8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61BD-19AD-97E7-186C-553E1B40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web </a:t>
            </a:r>
            <a:r>
              <a:rPr lang="de-DE" dirty="0" err="1"/>
              <a:t>hosted</a:t>
            </a:r>
            <a:r>
              <a:rPr lang="de-DE" dirty="0"/>
              <a:t> code </a:t>
            </a:r>
            <a:r>
              <a:rPr lang="de-DE" dirty="0" err="1"/>
              <a:t>editors</a:t>
            </a:r>
            <a:r>
              <a:rPr lang="de-DE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CF74-2B4C-E30F-2635-21CBA99195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74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DE9C2-3D4E-01DB-78DF-543954C2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E7700CB-2A92-4BD9-45EC-8B2884F2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web </a:t>
            </a:r>
            <a:r>
              <a:rPr lang="de-DE" dirty="0" err="1"/>
              <a:t>hosted</a:t>
            </a:r>
            <a:r>
              <a:rPr lang="de-DE" dirty="0"/>
              <a:t> code </a:t>
            </a:r>
            <a:r>
              <a:rPr lang="de-DE" dirty="0" err="1"/>
              <a:t>editors</a:t>
            </a:r>
            <a:r>
              <a:rPr lang="de-DE" dirty="0"/>
              <a:t>?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4EB908C-45A1-6AC1-F1F1-22A84F309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coder</a:t>
            </a:r>
            <a:r>
              <a:rPr lang="de-DE" dirty="0"/>
              <a:t>/code-server:</a:t>
            </a:r>
          </a:p>
          <a:p>
            <a:pPr marL="576263" lvl="2" indent="-342900"/>
            <a:r>
              <a:rPr lang="de-DE" dirty="0"/>
              <a:t>Monaco style </a:t>
            </a:r>
            <a:r>
              <a:rPr lang="de-DE" dirty="0" err="1"/>
              <a:t>editor</a:t>
            </a:r>
            <a:r>
              <a:rPr lang="de-DE" dirty="0"/>
              <a:t> (</a:t>
            </a:r>
            <a:r>
              <a:rPr lang="de-DE" dirty="0" err="1"/>
              <a:t>VSCode</a:t>
            </a:r>
            <a:r>
              <a:rPr lang="de-DE" dirty="0"/>
              <a:t>)</a:t>
            </a:r>
          </a:p>
          <a:p>
            <a:pPr marL="576263" lvl="2" indent="-342900"/>
            <a:r>
              <a:rPr lang="de-DE" dirty="0" err="1"/>
              <a:t>familiarity</a:t>
            </a:r>
            <a:endParaRPr lang="de-DE" dirty="0"/>
          </a:p>
          <a:p>
            <a:pPr marL="576263" lvl="2" indent="-342900"/>
            <a:r>
              <a:rPr lang="de-DE" dirty="0" err="1"/>
              <a:t>extension</a:t>
            </a:r>
            <a:r>
              <a:rPr lang="de-DE" dirty="0"/>
              <a:t> support</a:t>
            </a:r>
          </a:p>
          <a:p>
            <a:pPr marL="576263" lvl="2" indent="-342900"/>
            <a:r>
              <a:rPr lang="de-DE" dirty="0"/>
              <a:t>flexible </a:t>
            </a:r>
            <a:r>
              <a:rPr lang="de-DE" dirty="0" err="1"/>
              <a:t>deployment</a:t>
            </a:r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vscode</a:t>
            </a:r>
            <a:r>
              <a:rPr lang="de-DE" dirty="0"/>
              <a:t>-extension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flashing</a:t>
            </a:r>
            <a:r>
              <a:rPr lang="de-DE" dirty="0"/>
              <a:t> </a:t>
            </a:r>
            <a:r>
              <a:rPr lang="de-DE" dirty="0" err="1"/>
              <a:t>devices</a:t>
            </a:r>
            <a:endParaRPr lang="de-DE" dirty="0"/>
          </a:p>
          <a:p>
            <a:pPr marL="576263" lvl="2" indent="-342900"/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deployed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dev</a:t>
            </a:r>
            <a:r>
              <a:rPr lang="de-DE" dirty="0"/>
              <a:t> </a:t>
            </a:r>
            <a:r>
              <a:rPr lang="de-DE" dirty="0" err="1"/>
              <a:t>env</a:t>
            </a:r>
            <a:endParaRPr lang="de-DE" dirty="0"/>
          </a:p>
          <a:p>
            <a:pPr marL="576263" lvl="2" indent="-342900"/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editor-</a:t>
            </a:r>
            <a:r>
              <a:rPr lang="de-DE" dirty="0" err="1"/>
              <a:t>integrated</a:t>
            </a:r>
            <a:r>
              <a:rPr lang="de-DE" dirty="0"/>
              <a:t> </a:t>
            </a:r>
            <a:r>
              <a:rPr lang="de-DE" dirty="0" err="1"/>
              <a:t>management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devices</a:t>
            </a:r>
            <a:endParaRPr lang="de-DE" dirty="0"/>
          </a:p>
          <a:p>
            <a:pPr marL="576263" lvl="2" indent="-342900"/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flashes</a:t>
            </a:r>
            <a:r>
              <a:rPr lang="de-DE" dirty="0"/>
              <a:t> </a:t>
            </a:r>
            <a:r>
              <a:rPr lang="de-DE" dirty="0" err="1"/>
              <a:t>binaries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built</a:t>
            </a:r>
            <a:r>
              <a:rPr lang="de-DE" dirty="0"/>
              <a:t> code</a:t>
            </a:r>
          </a:p>
          <a:p>
            <a:pPr marL="800100" lvl="3" indent="-34290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766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0723-B94C-6FF0-D1EC-680ED384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F865-E5C7-CCF0-EBC6-ED2821EA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085B9-1FC8-A1D9-2028-802E0DB2C7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564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E7ED-F68D-B480-5C5D-34BD7F0E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DD65EBB-357E-C690-09FC-4EBF4E13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 </a:t>
            </a:r>
            <a:r>
              <a:rPr lang="de-DE" dirty="0" err="1"/>
              <a:t>Reminder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651C2A1-7C5A-D2D9-C8FB-F34574E0A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provide</a:t>
            </a:r>
            <a:r>
              <a:rPr lang="de-DE" dirty="0"/>
              <a:t> a code </a:t>
            </a:r>
            <a:r>
              <a:rPr lang="de-DE" dirty="0" err="1"/>
              <a:t>editor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website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ready</a:t>
            </a:r>
            <a:r>
              <a:rPr lang="de-DE" dirty="0"/>
              <a:t>-to-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environment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keep</a:t>
            </a:r>
            <a:r>
              <a:rPr lang="de-DE" dirty="0"/>
              <a:t> to a RIOT native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ease-of-deployment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flash</a:t>
            </a:r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 RIOT </a:t>
            </a: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boards</a:t>
            </a:r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from</a:t>
            </a:r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 a </a:t>
            </a: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browser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ease-of-use</a:t>
            </a:r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for</a:t>
            </a:r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newcomers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781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A7F4C-F7C8-AA09-51B9-5D54DCB9AD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ECBE123B-3CCE-E13C-BB83-E41E63771D9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2237056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90E2-488C-BA8F-94CC-2952B2C8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C843-0D8B-61F7-B028-BC4D64B1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A062A-C806-F1F4-5C98-E366AA036A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65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038B-C91D-D4AF-DD0F-B3F7C00F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FCC718B-6284-F37C-466B-8AC7F1B1C9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368" b="-17368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10C92-0301-EC89-9896-48567ACC9C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RIOT Web Editor Architecture</a:t>
            </a:r>
          </a:p>
        </p:txBody>
      </p:sp>
    </p:spTree>
    <p:extLst>
      <p:ext uri="{BB962C8B-B14F-4D97-AF65-F5344CB8AC3E}">
        <p14:creationId xmlns:p14="http://schemas.microsoft.com/office/powerpoint/2010/main" val="57941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48AC3-2857-882B-1232-0E30AA35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9BEF7AB-54A1-F8C3-DF97-0A93165F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Protocol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55E4097-DD01-ADF6-F7B1-38A326785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Requirements</a:t>
            </a:r>
            <a:r>
              <a:rPr lang="de-DE" dirty="0"/>
              <a:t>:</a:t>
            </a:r>
          </a:p>
          <a:p>
            <a:pPr marL="576263" lvl="2" indent="-342900"/>
            <a:r>
              <a:rPr lang="de-DE" dirty="0"/>
              <a:t>Buttons </a:t>
            </a:r>
            <a:r>
              <a:rPr lang="de-DE" dirty="0" err="1"/>
              <a:t>issue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(Client -&gt; Shell)</a:t>
            </a:r>
          </a:p>
          <a:p>
            <a:pPr marL="576263" lvl="2" indent="-342900"/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sent</a:t>
            </a:r>
            <a:r>
              <a:rPr lang="de-DE" dirty="0"/>
              <a:t> to Client</a:t>
            </a:r>
          </a:p>
          <a:p>
            <a:pPr marL="576263" lvl="2" indent="-342900"/>
            <a:r>
              <a:rPr lang="de-DE" dirty="0"/>
              <a:t>Log </a:t>
            </a:r>
            <a:r>
              <a:rPr lang="de-DE" dirty="0" err="1"/>
              <a:t>messages</a:t>
            </a:r>
            <a:r>
              <a:rPr lang="de-DE" dirty="0"/>
              <a:t> and User Input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shared</a:t>
            </a:r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/>
              <a:t>human-</a:t>
            </a:r>
            <a:r>
              <a:rPr lang="de-DE" dirty="0" err="1"/>
              <a:t>readable</a:t>
            </a:r>
            <a:r>
              <a:rPr lang="de-DE" dirty="0"/>
              <a:t> and </a:t>
            </a:r>
            <a:r>
              <a:rPr lang="de-DE" dirty="0" err="1"/>
              <a:t>compact</a:t>
            </a:r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stateful</a:t>
            </a:r>
            <a:r>
              <a:rPr lang="de-DE" dirty="0"/>
              <a:t>, </a:t>
            </a:r>
            <a:r>
              <a:rPr lang="de-DE" dirty="0" err="1"/>
              <a:t>addressed</a:t>
            </a:r>
            <a:r>
              <a:rPr lang="de-DE" dirty="0"/>
              <a:t> -&gt; </a:t>
            </a:r>
            <a:r>
              <a:rPr lang="de-DE" dirty="0" err="1"/>
              <a:t>parallelism</a:t>
            </a:r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59E21-B7DC-1E77-7F1A-1129C0086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646" y="1211905"/>
            <a:ext cx="4728754" cy="44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0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24CC4-519F-806F-4E45-2A20BDB5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F8424A1-DFE3-687F-387D-3632E640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Stub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DC0C020-AC2E-DAA1-5CEA-B68A6D055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Why</a:t>
            </a:r>
            <a:r>
              <a:rPr lang="de-DE" dirty="0"/>
              <a:t>?</a:t>
            </a:r>
          </a:p>
          <a:p>
            <a:pPr marL="576263" lvl="2" indent="-342900"/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flash</a:t>
            </a:r>
            <a:r>
              <a:rPr lang="de-DE" dirty="0"/>
              <a:t> -&gt; </a:t>
            </a:r>
            <a:r>
              <a:rPr lang="de-DE" dirty="0" err="1"/>
              <a:t>parsable</a:t>
            </a:r>
            <a:endParaRPr lang="de-DE" dirty="0"/>
          </a:p>
          <a:p>
            <a:pPr marL="576263" lvl="2" indent="-342900"/>
            <a:r>
              <a:rPr lang="de-DE" dirty="0"/>
              <a:t>./my_flash_script.sh -&gt;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difficult</a:t>
            </a:r>
            <a:endParaRPr lang="de-DE" dirty="0"/>
          </a:p>
          <a:p>
            <a:pPr marL="576263" lvl="2" indent="-342900"/>
            <a:r>
              <a:rPr lang="de-DE" dirty="0"/>
              <a:t>./</a:t>
            </a:r>
            <a:r>
              <a:rPr lang="de-DE" dirty="0" err="1"/>
              <a:t>my_flash_tool.bin</a:t>
            </a:r>
            <a:r>
              <a:rPr lang="de-DE" dirty="0"/>
              <a:t> -&gt; impossible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/>
              <a:t>Solution:</a:t>
            </a:r>
          </a:p>
          <a:p>
            <a:pPr marL="576263" lvl="2" indent="-342900"/>
            <a:r>
              <a:rPr lang="de-DE" dirty="0" err="1"/>
              <a:t>patch</a:t>
            </a:r>
            <a:r>
              <a:rPr lang="de-DE" dirty="0"/>
              <a:t> </a:t>
            </a:r>
            <a:r>
              <a:rPr lang="de-DE" dirty="0" err="1"/>
              <a:t>riot</a:t>
            </a:r>
            <a:r>
              <a:rPr lang="de-DE" dirty="0"/>
              <a:t> </a:t>
            </a:r>
            <a:r>
              <a:rPr lang="de-DE" dirty="0" err="1"/>
              <a:t>slightly</a:t>
            </a:r>
            <a:r>
              <a:rPr lang="de-DE" dirty="0"/>
              <a:t> -&gt; </a:t>
            </a:r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targets</a:t>
            </a:r>
            <a:r>
              <a:rPr lang="de-DE" dirty="0"/>
              <a:t> to </a:t>
            </a:r>
            <a:r>
              <a:rPr lang="de-DE" dirty="0" err="1"/>
              <a:t>call</a:t>
            </a:r>
            <a:r>
              <a:rPr lang="de-DE" dirty="0"/>
              <a:t> a </a:t>
            </a:r>
            <a:r>
              <a:rPr lang="de-DE" dirty="0" err="1"/>
              <a:t>stub</a:t>
            </a:r>
            <a:r>
              <a:rPr lang="de-DE" dirty="0"/>
              <a:t> </a:t>
            </a:r>
            <a:r>
              <a:rPr lang="de-DE" dirty="0" err="1"/>
              <a:t>instead</a:t>
            </a:r>
            <a:endParaRPr lang="de-DE" dirty="0"/>
          </a:p>
          <a:p>
            <a:pPr marL="576263" lvl="2" indent="-342900"/>
            <a:r>
              <a:rPr lang="de-DE" dirty="0" err="1"/>
              <a:t>stub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flasher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serial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respective</a:t>
            </a:r>
            <a:r>
              <a:rPr lang="de-DE" dirty="0"/>
              <a:t> </a:t>
            </a:r>
            <a:r>
              <a:rPr lang="de-DE" dirty="0" err="1"/>
              <a:t>args</a:t>
            </a:r>
            <a:endParaRPr lang="de-DE" dirty="0"/>
          </a:p>
          <a:p>
            <a:pPr marL="576263" lvl="2" indent="-342900"/>
            <a:r>
              <a:rPr lang="de-DE" dirty="0" err="1"/>
              <a:t>stub</a:t>
            </a:r>
            <a:r>
              <a:rPr lang="de-DE" dirty="0"/>
              <a:t> </a:t>
            </a:r>
            <a:r>
              <a:rPr lang="de-DE" dirty="0" err="1"/>
              <a:t>communicates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client</a:t>
            </a:r>
            <a:r>
              <a:rPr lang="de-DE" dirty="0"/>
              <a:t>:</a:t>
            </a:r>
          </a:p>
          <a:p>
            <a:pPr marL="800100" lvl="3" indent="-342900"/>
            <a:r>
              <a:rPr lang="de-DE" dirty="0" err="1"/>
              <a:t>invokes</a:t>
            </a:r>
            <a:r>
              <a:rPr lang="de-DE" dirty="0"/>
              <a:t> </a:t>
            </a:r>
            <a:r>
              <a:rPr lang="de-DE" dirty="0" err="1"/>
              <a:t>commands</a:t>
            </a:r>
            <a:endParaRPr lang="de-DE" dirty="0"/>
          </a:p>
          <a:p>
            <a:pPr marL="800100" lvl="3" indent="-342900"/>
            <a:r>
              <a:rPr lang="de-DE" dirty="0" err="1"/>
              <a:t>displays</a:t>
            </a:r>
            <a:r>
              <a:rPr lang="de-DE" dirty="0"/>
              <a:t> </a:t>
            </a:r>
            <a:r>
              <a:rPr lang="de-DE" dirty="0" err="1"/>
              <a:t>output</a:t>
            </a:r>
            <a:endParaRPr lang="de-DE" dirty="0"/>
          </a:p>
          <a:p>
            <a:pPr marL="800100" lvl="3" indent="-342900"/>
            <a:r>
              <a:rPr lang="de-DE" dirty="0" err="1"/>
              <a:t>relays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input</a:t>
            </a:r>
          </a:p>
        </p:txBody>
      </p:sp>
    </p:spTree>
    <p:extLst>
      <p:ext uri="{BB962C8B-B14F-4D97-AF65-F5344CB8AC3E}">
        <p14:creationId xmlns:p14="http://schemas.microsoft.com/office/powerpoint/2010/main" val="145542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73E7B0-DC1D-6D0F-536A-E36E9840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Packaging</a:t>
            </a:r>
            <a:r>
              <a:rPr lang="de-DE" dirty="0"/>
              <a:t> and </a:t>
            </a:r>
            <a:r>
              <a:rPr lang="de-DE" dirty="0" err="1"/>
              <a:t>Deployment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DC90E-3D1D-D7FF-6DBA-B11082863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6983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FB2F-2174-63F0-C58F-3333705E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E1DF-3350-29EF-2A8D-13423E027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package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docker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, </a:t>
            </a:r>
            <a:r>
              <a:rPr lang="de-DE" dirty="0" err="1"/>
              <a:t>containing</a:t>
            </a:r>
            <a:r>
              <a:rPr lang="de-DE" dirty="0"/>
              <a:t>:</a:t>
            </a:r>
          </a:p>
          <a:p>
            <a:pPr marL="576263" lvl="2" indent="-342900"/>
            <a:r>
              <a:rPr lang="de-DE" dirty="0"/>
              <a:t>code-server (</a:t>
            </a:r>
            <a:r>
              <a:rPr lang="de-DE" dirty="0" err="1"/>
              <a:t>autostart</a:t>
            </a:r>
            <a:r>
              <a:rPr lang="de-DE" dirty="0"/>
              <a:t>)</a:t>
            </a:r>
          </a:p>
          <a:p>
            <a:pPr marL="576263" lvl="2" indent="-342900"/>
            <a:r>
              <a:rPr lang="de-DE" dirty="0" err="1"/>
              <a:t>riot</a:t>
            </a:r>
            <a:r>
              <a:rPr lang="de-DE" dirty="0"/>
              <a:t>-web-tools:</a:t>
            </a:r>
          </a:p>
          <a:p>
            <a:pPr marL="800100" lvl="3" indent="-342900"/>
            <a:r>
              <a:rPr lang="de-DE" dirty="0" err="1"/>
              <a:t>relay</a:t>
            </a:r>
            <a:r>
              <a:rPr lang="de-DE" dirty="0"/>
              <a:t> (</a:t>
            </a:r>
            <a:r>
              <a:rPr lang="de-DE" dirty="0" err="1"/>
              <a:t>autostart</a:t>
            </a:r>
            <a:r>
              <a:rPr lang="de-DE" dirty="0"/>
              <a:t>)</a:t>
            </a:r>
          </a:p>
          <a:p>
            <a:pPr marL="800100" lvl="3" indent="-342900"/>
            <a:r>
              <a:rPr lang="de-DE" dirty="0" err="1"/>
              <a:t>shell</a:t>
            </a:r>
            <a:r>
              <a:rPr lang="de-DE" dirty="0"/>
              <a:t> (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shell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code-server)</a:t>
            </a:r>
          </a:p>
          <a:p>
            <a:pPr marL="800100" lvl="3" indent="-342900"/>
            <a:r>
              <a:rPr lang="de-DE" dirty="0" err="1"/>
              <a:t>stub</a:t>
            </a:r>
            <a:endParaRPr lang="de-DE" dirty="0"/>
          </a:p>
          <a:p>
            <a:pPr marL="576263" lvl="2" indent="-342900"/>
            <a:r>
              <a:rPr lang="de-DE" dirty="0"/>
              <a:t>RIOT and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endParaRPr lang="de-DE" dirty="0"/>
          </a:p>
          <a:p>
            <a:pPr marL="576263" lvl="2" indent="-342900"/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/</a:t>
            </a:r>
            <a:r>
              <a:rPr lang="de-DE" dirty="0" err="1"/>
              <a:t>home</a:t>
            </a:r>
            <a:r>
              <a:rPr lang="de-DE" dirty="0"/>
              <a:t>/</a:t>
            </a:r>
            <a:r>
              <a:rPr lang="de-DE" dirty="0" err="1"/>
              <a:t>coder</a:t>
            </a:r>
            <a:endParaRPr lang="de-DE" dirty="0"/>
          </a:p>
          <a:p>
            <a:pPr marL="576263" lvl="2" indent="-34290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1403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4FEF-1E7E-C3FA-D7C9-1428D389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75C6-8F9A-CE8D-D1B2-6AA0D1B1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Limitation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0221-4F0B-4F06-251C-93FEFFC1E8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7860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D7CE72-3797-ACC9-5BAD-04412603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Limitations</a:t>
            </a:r>
            <a:endParaRPr lang="de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E0F06F-E56A-DD06-AEFA-40963E674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web APIs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constricted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confined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 web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device</a:t>
            </a:r>
            <a:r>
              <a:rPr lang="de-DE" dirty="0"/>
              <a:t> support </a:t>
            </a:r>
            <a:r>
              <a:rPr lang="de-DE" dirty="0" err="1"/>
              <a:t>has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manually</a:t>
            </a:r>
            <a:r>
              <a:rPr lang="de-DE" dirty="0"/>
              <a:t> (flasher.js +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patch</a:t>
            </a:r>
            <a:r>
              <a:rPr lang="de-DE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devices</a:t>
            </a:r>
            <a:r>
              <a:rPr lang="de-DE" dirty="0"/>
              <a:t> still </a:t>
            </a:r>
            <a:r>
              <a:rPr lang="de-DE" dirty="0" err="1"/>
              <a:t>require</a:t>
            </a:r>
            <a:r>
              <a:rPr lang="de-DE" dirty="0"/>
              <a:t> a </a:t>
            </a:r>
            <a:r>
              <a:rPr lang="de-DE" dirty="0" err="1"/>
              <a:t>driver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recognized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os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1 </a:t>
            </a:r>
            <a:r>
              <a:rPr lang="de-DE" dirty="0" err="1"/>
              <a:t>container</a:t>
            </a:r>
            <a:r>
              <a:rPr lang="de-DE" dirty="0"/>
              <a:t> – 1 </a:t>
            </a:r>
            <a:r>
              <a:rPr lang="de-DE" dirty="0" err="1"/>
              <a:t>user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3924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8602-F26E-4402-81B5-C03EB3BB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F8BC-C520-B535-B921-65DB20E3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Features / Support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ED7E7-1FDE-2597-B4A0-5DC92923DA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91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687C6-B809-8B7A-9B61-AC4753C9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Features / Support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E06B6A-4CEB-8480-893A-23E5FB9B4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flash</a:t>
            </a:r>
            <a:r>
              <a:rPr lang="de-DE" dirty="0"/>
              <a:t> and </a:t>
            </a:r>
            <a:r>
              <a:rPr lang="de-DE" dirty="0" err="1"/>
              <a:t>term</a:t>
            </a:r>
            <a:r>
              <a:rPr lang="de-DE" dirty="0"/>
              <a:t> via:</a:t>
            </a:r>
          </a:p>
          <a:p>
            <a:pPr marL="576263" lvl="2" indent="-342900"/>
            <a:r>
              <a:rPr lang="de-DE" dirty="0"/>
              <a:t>UI</a:t>
            </a:r>
          </a:p>
          <a:p>
            <a:pPr marL="576263" lvl="2" indent="-342900"/>
            <a:r>
              <a:rPr lang="de-DE" dirty="0"/>
              <a:t>CLI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coherent</a:t>
            </a:r>
            <a:r>
              <a:rPr lang="de-DE" dirty="0"/>
              <a:t> UI / CLI </a:t>
            </a:r>
            <a:r>
              <a:rPr lang="de-DE" dirty="0" err="1"/>
              <a:t>experience</a:t>
            </a:r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/>
              <a:t>multiple </a:t>
            </a:r>
            <a:r>
              <a:rPr lang="de-DE" dirty="0" err="1"/>
              <a:t>devices</a:t>
            </a:r>
            <a:r>
              <a:rPr lang="de-DE" dirty="0"/>
              <a:t> and </a:t>
            </a:r>
            <a:r>
              <a:rPr lang="de-DE" dirty="0" err="1"/>
              <a:t>projects</a:t>
            </a:r>
            <a:endParaRPr lang="de-DE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boards</a:t>
            </a:r>
            <a:r>
              <a:rPr lang="de-DE" dirty="0"/>
              <a:t>:</a:t>
            </a:r>
          </a:p>
          <a:p>
            <a:pPr marL="576263" lvl="2" indent="-342900"/>
            <a:r>
              <a:rPr lang="de-DE" dirty="0"/>
              <a:t>adafruit-nrf52840 (RIOT kit)</a:t>
            </a:r>
          </a:p>
          <a:p>
            <a:pPr marL="576263" lvl="2" indent="-342900"/>
            <a:r>
              <a:rPr lang="de-DE" dirty="0" err="1"/>
              <a:t>esp</a:t>
            </a:r>
            <a:r>
              <a:rPr lang="de-DE" dirty="0"/>
              <a:t> (all)</a:t>
            </a:r>
          </a:p>
        </p:txBody>
      </p:sp>
    </p:spTree>
    <p:extLst>
      <p:ext uri="{BB962C8B-B14F-4D97-AF65-F5344CB8AC3E}">
        <p14:creationId xmlns:p14="http://schemas.microsoft.com/office/powerpoint/2010/main" val="4015091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4D4D3B-073D-1EBF-720B-3E19ACC6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E912E-1494-0E7F-BF9A-7E15C243C0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9765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367F1D1-9BDF-981A-6F45-995A8672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D9D380-B62B-0405-3046-7AF0DB6B6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RIOT-Web-Editor: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hlinkClick r:id="rId2"/>
              </a:rPr>
              <a:t>https://github.com/cheater78/RIOT-WebEditor</a:t>
            </a:r>
            <a:endParaRPr lang="de-DE" dirty="0"/>
          </a:p>
          <a:p>
            <a:r>
              <a:rPr lang="de-DE" dirty="0"/>
              <a:t>RIOT-VS-Code-Extension (Submodule)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hlinkClick r:id="rId3"/>
              </a:rPr>
              <a:t>https://github.com/Barkolores/RIOT-VS-Code-Extension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5040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3CB6F2-E922-90E8-E828-1985D096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5EB50-3C74-E111-ACAF-00A6DF7F09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551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84346-9DF2-55A8-9F86-6DD431DF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502C05F-B9B6-AFD5-1D76-03CF738D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E1CB743-B9C4-E1C1-356B-BF282EB2A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459" y="1375954"/>
            <a:ext cx="8683082" cy="44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87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CAE8-B7F6-6BA4-6054-43CF7BDB6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Relay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C648C3-5402-772B-1614-721EA33D1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600" y="2041281"/>
            <a:ext cx="7344800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52635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51106_TUD_Präsentationsvorlage_16zu9_leer.potx" id="{A27832DB-5D38-4212-9611-DD26E22AA147}" vid="{855A19AF-23FD-4038-B911-F867C9011DAF}"/>
    </a:ext>
  </a:extLst>
</a:theme>
</file>

<file path=ppt/theme/theme2.xml><?xml version="1.0" encoding="utf-8"?>
<a:theme xmlns:a="http://schemas.openxmlformats.org/drawingml/2006/main" name="Seiten mit Shape variabel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51106_TUD_Präsentationsvorlage_16zu9_leer.potx" id="{A27832DB-5D38-4212-9611-DD26E22AA147}" vid="{B6C18103-FCC1-443E-9341-ECEF965D535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RIoTPresentation</Template>
  <TotalTime>0</TotalTime>
  <Words>868</Words>
  <Application>Microsoft Office PowerPoint</Application>
  <PresentationFormat>Widescreen</PresentationFormat>
  <Paragraphs>231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Calibri</vt:lpstr>
      <vt:lpstr>Noto Sans</vt:lpstr>
      <vt:lpstr>Noto Sans Medium</vt:lpstr>
      <vt:lpstr>Noto Serif</vt:lpstr>
      <vt:lpstr>Noto Serif (Textkörper)</vt:lpstr>
      <vt:lpstr>Noto Serif Light</vt:lpstr>
      <vt:lpstr>Open Sans</vt:lpstr>
      <vt:lpstr>Symbol</vt:lpstr>
      <vt:lpstr>TUD Standard_20 pt</vt:lpstr>
      <vt:lpstr>Seiten mit Shape variabel</vt:lpstr>
      <vt:lpstr>Flashing RIOT from a Browser</vt:lpstr>
      <vt:lpstr>Vision</vt:lpstr>
      <vt:lpstr>Vision</vt:lpstr>
      <vt:lpstr>Goals</vt:lpstr>
      <vt:lpstr>Goals</vt:lpstr>
      <vt:lpstr>How to flash an MCU from a Browser?</vt:lpstr>
      <vt:lpstr>How to flash an MCU from a Browser?</vt:lpstr>
      <vt:lpstr>What about web hosted code editors?</vt:lpstr>
      <vt:lpstr>What about web hosted code editors?</vt:lpstr>
      <vt:lpstr>Backend</vt:lpstr>
      <vt:lpstr>Goals Reminder</vt:lpstr>
      <vt:lpstr>PowerPoint Presentation</vt:lpstr>
      <vt:lpstr>Architecture</vt:lpstr>
      <vt:lpstr>PowerPoint Presentation</vt:lpstr>
      <vt:lpstr>Protocol</vt:lpstr>
      <vt:lpstr>Stub</vt:lpstr>
      <vt:lpstr>Packaging and Deployment</vt:lpstr>
      <vt:lpstr>Docker</vt:lpstr>
      <vt:lpstr>Limitation</vt:lpstr>
      <vt:lpstr>Limitations</vt:lpstr>
      <vt:lpstr>Features / Support</vt:lpstr>
      <vt:lpstr>Features / Support</vt:lpstr>
      <vt:lpstr>Demo</vt:lpstr>
      <vt:lpstr>Thanks for your attention</vt:lpstr>
      <vt:lpstr>PowerPoint Presentation</vt:lpstr>
      <vt:lpstr>Shell</vt:lpstr>
      <vt:lpstr>Relay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30</cp:revision>
  <dcterms:created xsi:type="dcterms:W3CDTF">2026-03-23T15:10:47Z</dcterms:created>
  <dcterms:modified xsi:type="dcterms:W3CDTF">2026-03-24T17:56:40Z</dcterms:modified>
</cp:coreProperties>
</file>