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741" r:id="rId2"/>
  </p:sldMasterIdLst>
  <p:notesMasterIdLst>
    <p:notesMasterId r:id="rId31"/>
  </p:notesMasterIdLst>
  <p:handoutMasterIdLst>
    <p:handoutMasterId r:id="rId32"/>
  </p:handoutMasterIdLst>
  <p:sldIdLst>
    <p:sldId id="288" r:id="rId3"/>
    <p:sldId id="287" r:id="rId4"/>
    <p:sldId id="305" r:id="rId5"/>
    <p:sldId id="304" r:id="rId6"/>
    <p:sldId id="299" r:id="rId7"/>
    <p:sldId id="298" r:id="rId8"/>
    <p:sldId id="301" r:id="rId9"/>
    <p:sldId id="300" r:id="rId10"/>
    <p:sldId id="303" r:id="rId11"/>
    <p:sldId id="307" r:id="rId12"/>
    <p:sldId id="306" r:id="rId13"/>
    <p:sldId id="308" r:id="rId14"/>
    <p:sldId id="302" r:id="rId15"/>
    <p:sldId id="295" r:id="rId16"/>
    <p:sldId id="297" r:id="rId17"/>
    <p:sldId id="296" r:id="rId18"/>
    <p:sldId id="258" r:id="rId19"/>
    <p:sldId id="294" r:id="rId20"/>
    <p:sldId id="283" r:id="rId21"/>
    <p:sldId id="256" r:id="rId22"/>
    <p:sldId id="284" r:id="rId23"/>
    <p:sldId id="285" r:id="rId24"/>
    <p:sldId id="286" r:id="rId25"/>
    <p:sldId id="289" r:id="rId26"/>
    <p:sldId id="290" r:id="rId27"/>
    <p:sldId id="291" r:id="rId28"/>
    <p:sldId id="292" r:id="rId29"/>
    <p:sldId id="293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1E1E"/>
    <a:srgbClr val="252526"/>
    <a:srgbClr val="97C6FF"/>
    <a:srgbClr val="323F4B"/>
    <a:srgbClr val="00008C"/>
    <a:srgbClr val="2F57B2"/>
    <a:srgbClr val="FFFFFF"/>
    <a:srgbClr val="000000"/>
    <a:srgbClr val="00005A"/>
    <a:srgbClr val="C8C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69510" autoAdjust="0"/>
  </p:normalViewPr>
  <p:slideViewPr>
    <p:cSldViewPr snapToGrid="0" showGuides="1">
      <p:cViewPr>
        <p:scale>
          <a:sx n="100" d="100"/>
          <a:sy n="100" d="100"/>
        </p:scale>
        <p:origin x="2472" y="31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8403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84260DF-C685-4FF6-A43E-7F93FB3E641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8901AA-A65C-4D7D-B03E-B88B42C819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B67984-F0B9-4D31-A8F6-8AF021B9C2EF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D3CA3E7-8995-4D33-854F-35DAE52EA9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351F65-D033-4BD6-A4AB-E115D806FBE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32D436-8D5A-47CC-AED7-9827D8D395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2842263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5960CC-0992-4111-87D3-C02B03B2EA6C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EEB764-55E2-4077-8C7A-EB9EFE7145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63365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028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WebSite</a:t>
            </a:r>
            <a:r>
              <a:rPr lang="de-DE" dirty="0"/>
              <a:t> lässt keine direkte </a:t>
            </a:r>
            <a:r>
              <a:rPr lang="de-DE" dirty="0" err="1"/>
              <a:t>kommunikation</a:t>
            </a:r>
            <a:r>
              <a:rPr lang="de-DE" dirty="0"/>
              <a:t> mit </a:t>
            </a:r>
            <a:r>
              <a:rPr lang="de-DE" dirty="0" err="1"/>
              <a:t>geräten</a:t>
            </a:r>
            <a:r>
              <a:rPr lang="de-DE" dirty="0"/>
              <a:t> zu</a:t>
            </a:r>
          </a:p>
          <a:p>
            <a:pPr marL="171450" indent="-171450">
              <a:buFontTx/>
              <a:buChar char="-"/>
            </a:pPr>
            <a:r>
              <a:rPr lang="de-DE" dirty="0"/>
              <a:t>deswegen APIs</a:t>
            </a:r>
          </a:p>
          <a:p>
            <a:pPr marL="171450" indent="-171450">
              <a:buFontTx/>
              <a:buChar char="-"/>
            </a:pPr>
            <a:r>
              <a:rPr lang="de-DE" dirty="0"/>
              <a:t>so kann man zB auf USB Serielle oder HID </a:t>
            </a:r>
            <a:r>
              <a:rPr lang="de-DE" dirty="0" err="1"/>
              <a:t>geräte</a:t>
            </a:r>
            <a:r>
              <a:rPr lang="de-DE" dirty="0"/>
              <a:t> zugreifen</a:t>
            </a:r>
          </a:p>
          <a:p>
            <a:pPr marL="171450" indent="-171450">
              <a:buFontTx/>
              <a:buChar char="-"/>
            </a:pPr>
            <a:r>
              <a:rPr lang="de-DE" dirty="0"/>
              <a:t>diese APIs werden allerdings nicht von allen Browsern gleich unterstützt</a:t>
            </a:r>
          </a:p>
          <a:p>
            <a:pPr marL="171450" indent="-171450">
              <a:buFontTx/>
              <a:buChar char="-"/>
            </a:pPr>
            <a:r>
              <a:rPr lang="de-DE" dirty="0"/>
              <a:t>so wird </a:t>
            </a:r>
            <a:r>
              <a:rPr lang="de-DE" dirty="0" err="1"/>
              <a:t>WebSerial</a:t>
            </a:r>
            <a:r>
              <a:rPr lang="de-DE" dirty="0"/>
              <a:t> (was wir zum </a:t>
            </a:r>
            <a:r>
              <a:rPr lang="de-DE" dirty="0" err="1"/>
              <a:t>flahsen</a:t>
            </a:r>
            <a:r>
              <a:rPr lang="de-DE" dirty="0"/>
              <a:t> brauchen) nur auf </a:t>
            </a:r>
            <a:r>
              <a:rPr lang="de-DE" dirty="0" err="1"/>
              <a:t>chromium</a:t>
            </a:r>
            <a:r>
              <a:rPr lang="de-DE" dirty="0"/>
              <a:t> basierten </a:t>
            </a:r>
            <a:r>
              <a:rPr lang="de-DE" dirty="0" err="1"/>
              <a:t>browsern</a:t>
            </a:r>
            <a:r>
              <a:rPr lang="de-DE" dirty="0"/>
              <a:t> unterstützt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darüberhinaus</a:t>
            </a:r>
            <a:r>
              <a:rPr lang="de-DE" dirty="0"/>
              <a:t> ist web zugriff auf HW </a:t>
            </a:r>
            <a:r>
              <a:rPr lang="de-DE" dirty="0" err="1"/>
              <a:t>devices</a:t>
            </a:r>
            <a:r>
              <a:rPr lang="de-DE" dirty="0"/>
              <a:t> ein großes Sicherheitsrisiko</a:t>
            </a:r>
          </a:p>
          <a:p>
            <a:pPr marL="171450" indent="-171450">
              <a:buFontTx/>
              <a:buChar char="-"/>
            </a:pPr>
            <a:r>
              <a:rPr lang="de-DE" dirty="0"/>
              <a:t>weshalb man jedes Gerät einzeln zulassen muss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nun wenn man mit einem µC seriell kommunizieren kann,</a:t>
            </a:r>
          </a:p>
          <a:p>
            <a:pPr marL="171450" indent="-171450">
              <a:buFontTx/>
              <a:buChar char="-"/>
            </a:pPr>
            <a:r>
              <a:rPr lang="de-DE" dirty="0"/>
              <a:t>benötigt man </a:t>
            </a:r>
            <a:r>
              <a:rPr lang="de-DE" dirty="0" err="1"/>
              <a:t>immernoch</a:t>
            </a:r>
            <a:r>
              <a:rPr lang="de-DE" dirty="0"/>
              <a:t> einen </a:t>
            </a:r>
            <a:r>
              <a:rPr lang="de-DE" dirty="0" err="1"/>
              <a:t>flasher</a:t>
            </a:r>
            <a:r>
              <a:rPr lang="de-DE" dirty="0"/>
              <a:t> der </a:t>
            </a:r>
            <a:r>
              <a:rPr lang="de-DE" dirty="0" err="1"/>
              <a:t>impl</a:t>
            </a:r>
            <a:r>
              <a:rPr lang="de-DE" dirty="0"/>
              <a:t> in </a:t>
            </a:r>
            <a:r>
              <a:rPr lang="de-DE" dirty="0" err="1"/>
              <a:t>js</a:t>
            </a:r>
            <a:r>
              <a:rPr lang="de-DE" dirty="0"/>
              <a:t>, die </a:t>
            </a:r>
            <a:r>
              <a:rPr lang="de-DE" dirty="0" err="1"/>
              <a:t>compileten</a:t>
            </a:r>
            <a:r>
              <a:rPr lang="de-DE" dirty="0"/>
              <a:t> </a:t>
            </a:r>
            <a:r>
              <a:rPr lang="de-DE" dirty="0" err="1"/>
              <a:t>binaries</a:t>
            </a:r>
            <a:r>
              <a:rPr lang="de-DE" dirty="0"/>
              <a:t> auf den µC überträgt</a:t>
            </a:r>
          </a:p>
          <a:p>
            <a:pPr marL="171450" indent="-171450">
              <a:buFontTx/>
              <a:buChar char="-"/>
            </a:pPr>
            <a:r>
              <a:rPr lang="de-DE" dirty="0"/>
              <a:t>hängt vom </a:t>
            </a:r>
            <a:r>
              <a:rPr lang="de-DE" dirty="0" err="1"/>
              <a:t>device</a:t>
            </a:r>
            <a:r>
              <a:rPr lang="de-DE" dirty="0"/>
              <a:t> ab -&gt; mehrere </a:t>
            </a:r>
            <a:r>
              <a:rPr lang="de-DE" dirty="0" err="1"/>
              <a:t>flasher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eigene </a:t>
            </a:r>
            <a:r>
              <a:rPr lang="de-DE" dirty="0" err="1"/>
              <a:t>flasher</a:t>
            </a:r>
            <a:r>
              <a:rPr lang="de-DE" dirty="0"/>
              <a:t> zu schreiben ist nicht praktikabel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flashing</a:t>
            </a:r>
            <a:r>
              <a:rPr lang="de-DE" dirty="0"/>
              <a:t> </a:t>
            </a:r>
            <a:r>
              <a:rPr lang="de-DE" dirty="0" err="1"/>
              <a:t>websiten</a:t>
            </a:r>
            <a:r>
              <a:rPr lang="de-DE" dirty="0"/>
              <a:t> existieren, ABER:</a:t>
            </a:r>
          </a:p>
          <a:p>
            <a:pPr marL="171450" indent="-171450">
              <a:buFontTx/>
              <a:buChar char="-"/>
            </a:pPr>
            <a:r>
              <a:rPr lang="de-DE" dirty="0"/>
              <a:t>für spezifische </a:t>
            </a:r>
            <a:r>
              <a:rPr lang="de-DE" dirty="0" err="1"/>
              <a:t>devices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muss seine eigenen </a:t>
            </a:r>
            <a:r>
              <a:rPr lang="de-DE" dirty="0" err="1"/>
              <a:t>binaries</a:t>
            </a:r>
            <a:r>
              <a:rPr lang="de-DE" dirty="0"/>
              <a:t> hochladen</a:t>
            </a:r>
          </a:p>
          <a:p>
            <a:pPr marL="171450" indent="-171450">
              <a:buFontTx/>
              <a:buChar char="-"/>
            </a:pPr>
            <a:r>
              <a:rPr lang="de-DE" dirty="0"/>
              <a:t>nicht für alle </a:t>
            </a:r>
            <a:r>
              <a:rPr lang="de-DE" dirty="0" err="1"/>
              <a:t>geräte</a:t>
            </a:r>
            <a:r>
              <a:rPr lang="de-DE" dirty="0"/>
              <a:t> und wenn verteilt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können </a:t>
            </a:r>
            <a:r>
              <a:rPr lang="de-DE" dirty="0" err="1"/>
              <a:t>immernoch</a:t>
            </a:r>
            <a:r>
              <a:rPr lang="de-DE" dirty="0"/>
              <a:t> keinen eigenen Code schreiben, </a:t>
            </a:r>
            <a:r>
              <a:rPr lang="de-DE" dirty="0" err="1"/>
              <a:t>könn</a:t>
            </a:r>
            <a:r>
              <a:rPr lang="de-DE" dirty="0"/>
              <a:t> wir nicht </a:t>
            </a:r>
            <a:r>
              <a:rPr lang="de-DE" dirty="0" err="1"/>
              <a:t>iwie</a:t>
            </a:r>
            <a:r>
              <a:rPr lang="de-DE" dirty="0"/>
              <a:t> einen Editor hosten in dem wir auch </a:t>
            </a:r>
            <a:r>
              <a:rPr lang="de-DE" dirty="0" err="1"/>
              <a:t>flashen</a:t>
            </a:r>
            <a:r>
              <a:rPr lang="de-DE" dirty="0"/>
              <a:t> können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7293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627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A59D0E-05E5-F02E-779D-C74E11595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545A38-2962-C6F8-3CB4-CD6EAAAF7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74630E-94A1-BC8D-F805-523264EF8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de-DE" dirty="0" err="1"/>
              <a:t>ham</a:t>
            </a:r>
            <a:r>
              <a:rPr lang="de-DE" dirty="0"/>
              <a:t> uns web IDEs </a:t>
            </a:r>
            <a:r>
              <a:rPr lang="de-DE" dirty="0" err="1"/>
              <a:t>angeguggt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viele haben Monaco als Frontend, bekannt von </a:t>
            </a:r>
            <a:r>
              <a:rPr lang="de-DE" dirty="0" err="1"/>
              <a:t>VSCode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VSCode</a:t>
            </a:r>
            <a:r>
              <a:rPr lang="de-DE" dirty="0"/>
              <a:t> für viele vertraut</a:t>
            </a:r>
          </a:p>
          <a:p>
            <a:pPr marL="171450" indent="-171450">
              <a:buFontTx/>
              <a:buChar char="-"/>
            </a:pPr>
            <a:r>
              <a:rPr lang="de-DE" dirty="0"/>
              <a:t>unterstütz </a:t>
            </a:r>
            <a:r>
              <a:rPr lang="de-DE" dirty="0" err="1"/>
              <a:t>Extensions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coder</a:t>
            </a:r>
            <a:r>
              <a:rPr lang="de-DE" dirty="0"/>
              <a:t>/code-server kann einfach </a:t>
            </a:r>
            <a:r>
              <a:rPr lang="de-DE" dirty="0" err="1"/>
              <a:t>gehosted</a:t>
            </a:r>
            <a:r>
              <a:rPr lang="de-DE" dirty="0"/>
              <a:t> werden um eine Web IDE bereit zustellen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IDEE: </a:t>
            </a:r>
            <a:r>
              <a:rPr lang="de-DE" dirty="0" err="1"/>
              <a:t>vscode</a:t>
            </a:r>
            <a:r>
              <a:rPr lang="de-DE" dirty="0"/>
              <a:t> </a:t>
            </a:r>
            <a:r>
              <a:rPr lang="de-DE" dirty="0" err="1"/>
              <a:t>extension</a:t>
            </a:r>
            <a:r>
              <a:rPr lang="de-DE" dirty="0"/>
              <a:t> zum </a:t>
            </a:r>
            <a:r>
              <a:rPr lang="de-DE" dirty="0" err="1"/>
              <a:t>flashen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auto</a:t>
            </a:r>
            <a:r>
              <a:rPr lang="de-DE" dirty="0"/>
              <a:t> deploy</a:t>
            </a:r>
          </a:p>
          <a:p>
            <a:pPr marL="171450" indent="-171450">
              <a:buFontTx/>
              <a:buChar char="-"/>
            </a:pPr>
            <a:r>
              <a:rPr lang="de-DE" dirty="0" err="1"/>
              <a:t>geräteverwaltung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in Kontrast zu anderen </a:t>
            </a:r>
            <a:r>
              <a:rPr lang="de-DE" dirty="0" err="1"/>
              <a:t>Flasher</a:t>
            </a:r>
            <a:r>
              <a:rPr lang="de-DE" dirty="0"/>
              <a:t> Websites -&gt; seinen code direkt </a:t>
            </a:r>
            <a:r>
              <a:rPr lang="de-DE" dirty="0" err="1"/>
              <a:t>builden</a:t>
            </a:r>
            <a:r>
              <a:rPr lang="de-DE" dirty="0"/>
              <a:t> und </a:t>
            </a:r>
            <a:r>
              <a:rPr lang="de-DE" dirty="0" err="1"/>
              <a:t>flashen</a:t>
            </a:r>
            <a:r>
              <a:rPr lang="de-DE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8D8344-AA30-ABA3-A9B9-B40D427EE69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380744-32DE-C7ED-5F85-E1FF5C54B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4228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76873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EEB764-55E2-4077-8C7A-EB9EFE7145E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8188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2.svg"/><Relationship Id="rId4" Type="http://schemas.openxmlformats.org/officeDocument/2006/relationships/image" Target="../media/image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UD Standard_20 p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</a:lstStyle>
          <a:p>
            <a:r>
              <a:rPr lang="de-DE" dirty="0"/>
              <a:t>Titel Schriftgröße 32pt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599" y="1736725"/>
            <a:ext cx="10972801" cy="4105275"/>
          </a:xfrm>
          <a:solidFill>
            <a:schemeClr val="accent2">
              <a:lumMod val="40000"/>
              <a:lumOff val="60000"/>
            </a:schemeClr>
          </a:solidFill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</a:lstStyle>
          <a:p>
            <a:pPr lvl="0"/>
            <a:r>
              <a:rPr lang="de-DE" dirty="0"/>
              <a:t>Mastertextformat Schriftgröße 20pt</a:t>
            </a:r>
            <a:br>
              <a:rPr lang="de-DE" dirty="0"/>
            </a:br>
            <a:r>
              <a:rPr lang="de-DE" dirty="0"/>
              <a:t>(Kann vergrößert werden auf 24pt, Minimum Schriftgröße 16 </a:t>
            </a:r>
            <a:r>
              <a:rPr lang="de-DE" dirty="0" err="1"/>
              <a:t>pt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Die Schriftgrößen wurde in folgenden Räumen getestet</a:t>
            </a:r>
          </a:p>
          <a:p>
            <a:pPr lvl="2"/>
            <a:r>
              <a:rPr lang="de-DE" dirty="0"/>
              <a:t>HSZ Audimax</a:t>
            </a:r>
          </a:p>
          <a:p>
            <a:pPr lvl="2"/>
            <a:r>
              <a:rPr lang="de-DE" dirty="0"/>
              <a:t>HSZ Hörsaal 3</a:t>
            </a:r>
          </a:p>
          <a:p>
            <a:pPr lvl="2"/>
            <a:r>
              <a:rPr lang="de-DE" dirty="0"/>
              <a:t>HSZ Seminarraum klein</a:t>
            </a:r>
          </a:p>
          <a:p>
            <a:pPr lvl="1"/>
            <a:r>
              <a:rPr lang="de-DE" dirty="0"/>
              <a:t>In allen drei Räumen ist 20 und 24 </a:t>
            </a:r>
            <a:r>
              <a:rPr lang="de-DE" dirty="0" err="1"/>
              <a:t>pt</a:t>
            </a:r>
            <a:r>
              <a:rPr lang="de-DE" dirty="0"/>
              <a:t> gut lesbar. Im </a:t>
            </a:r>
            <a:r>
              <a:rPr lang="de-DE" dirty="0" err="1"/>
              <a:t>Seminaraum</a:t>
            </a:r>
            <a:r>
              <a:rPr lang="de-DE" dirty="0"/>
              <a:t> ist 16 </a:t>
            </a:r>
            <a:r>
              <a:rPr lang="de-DE" dirty="0" err="1"/>
              <a:t>pt</a:t>
            </a:r>
            <a:r>
              <a:rPr lang="de-DE" dirty="0"/>
              <a:t> grenzwertig klein.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86E97365-2970-48C5-8643-B05B104BD1F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 userDrawn="1"/>
        </p:nvSpPr>
        <p:spPr>
          <a:xfrm>
            <a:off x="8075614" y="6057900"/>
            <a:ext cx="3506786" cy="39528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Platz für Zweitlogos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A471FF40-B767-4E15-B8F5-6DAC252E94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052513"/>
            <a:ext cx="12192000" cy="684212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07D106F-3835-4287-88EB-AAAD315A8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5842000"/>
            <a:ext cx="12192000" cy="215900"/>
          </a:xfrm>
          <a:prstGeom prst="rect">
            <a:avLst/>
          </a:prstGeom>
          <a:solidFill>
            <a:srgbClr val="FFB9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>
                <a:solidFill>
                  <a:srgbClr val="BC1589"/>
                </a:solidFill>
              </a:rPr>
              <a:t>Schutzraum</a:t>
            </a:r>
            <a:endParaRPr lang="en-US" dirty="0">
              <a:solidFill>
                <a:srgbClr val="BC158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63251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8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87645A5-8081-48C3-B5F8-643B270F4F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7AE3C1A-CB2F-4CD1-90ED-300793F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FD2337E2-6B3B-430B-8F0C-236691AFA7A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76156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B33AC041-1A6E-42F5-81A2-02C98A0F27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DA15133A-699F-4D35-8F40-4E67A2D2CB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accent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1"/>
            <a:ext cx="1980000" cy="660000"/>
          </a:xfrm>
          <a:prstGeom prst="rect">
            <a:avLst/>
          </a:prstGeom>
        </p:spPr>
      </p:pic>
      <p:sp>
        <p:nvSpPr>
          <p:cNvPr id="10" name="Textplatzhalter 2">
            <a:extLst>
              <a:ext uri="{FF2B5EF4-FFF2-40B4-BE49-F238E27FC236}">
                <a16:creationId xmlns:a16="http://schemas.microsoft.com/office/drawing/2014/main" id="{8BF6A3ED-341B-442E-8210-E4319907CA7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rgbClr val="00008C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693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4560104"/>
            <a:ext cx="7250113" cy="12818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3094696"/>
            <a:ext cx="7250113" cy="1123950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73381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579EDF-77CB-4860-8B94-3DF47A80CB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2609850"/>
            <a:ext cx="7250113" cy="301544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6"/>
            <a:ext cx="7250113" cy="539750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94302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F57B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2488013"/>
            <a:ext cx="7250113" cy="3137283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390651"/>
            <a:ext cx="7250113" cy="77152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42026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58C2EC5D-CAE6-4D0D-876A-759A0D2C366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1" y="2800350"/>
            <a:ext cx="6315074" cy="2449174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41089"/>
            <a:ext cx="7250113" cy="771524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89954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962400"/>
            <a:ext cx="10972800" cy="1662895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37490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827606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716338"/>
            <a:ext cx="10972800" cy="1908957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08915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543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elfolie_Shape_f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4CFE8FF-710D-4BD6-BF09-5899F316B5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716338"/>
            <a:ext cx="10972800" cy="1908957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089150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EDF80472-EDBA-4F61-808F-F1F3B41F7DD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2650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 mit Bild_in Shap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4455023C-E286-4137-97BF-103515D6434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729833"/>
            <a:ext cx="8487697" cy="8933116"/>
          </a:xfrm>
          <a:custGeom>
            <a:avLst/>
            <a:gdLst>
              <a:gd name="connsiteX0" fmla="*/ 14132540 w 14132540"/>
              <a:gd name="connsiteY0" fmla="*/ 0 h 14874190"/>
              <a:gd name="connsiteX1" fmla="*/ 14132540 w 14132540"/>
              <a:gd name="connsiteY1" fmla="*/ 8549569 h 14874190"/>
              <a:gd name="connsiteX2" fmla="*/ 7807920 w 14132540"/>
              <a:gd name="connsiteY2" fmla="*/ 14874190 h 14874190"/>
              <a:gd name="connsiteX3" fmla="*/ 1318488 w 14132540"/>
              <a:gd name="connsiteY3" fmla="*/ 14874190 h 14874190"/>
              <a:gd name="connsiteX4" fmla="*/ 0 w 14132540"/>
              <a:gd name="connsiteY4" fmla="*/ 7437096 h 14874190"/>
              <a:gd name="connsiteX5" fmla="*/ 6695444 w 14132540"/>
              <a:gd name="connsiteY5" fmla="*/ 7437096 h 14874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132540" h="14874190">
                <a:moveTo>
                  <a:pt x="14132540" y="0"/>
                </a:moveTo>
                <a:lnTo>
                  <a:pt x="14132540" y="8549569"/>
                </a:lnTo>
                <a:lnTo>
                  <a:pt x="7807920" y="14874190"/>
                </a:lnTo>
                <a:lnTo>
                  <a:pt x="1318488" y="14874190"/>
                </a:lnTo>
                <a:lnTo>
                  <a:pt x="0" y="7437096"/>
                </a:lnTo>
                <a:lnTo>
                  <a:pt x="6695444" y="7437096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8" name="Textplatzhalter 2">
            <a:extLst>
              <a:ext uri="{FF2B5EF4-FFF2-40B4-BE49-F238E27FC236}">
                <a16:creationId xmlns:a16="http://schemas.microsoft.com/office/drawing/2014/main" id="{085D84F3-0188-409A-9BD3-30A16A8588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46083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elfolie_mit Bild 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3733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3733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62475" y="-1"/>
            <a:ext cx="11220449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C08A1F-7110-46BF-80E3-5D4C853782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9429797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elfolie_mit_Bild_rech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39666" y="-23814"/>
            <a:ext cx="8836004" cy="694097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12192000"/>
              <a:gd name="connsiteY0" fmla="*/ 0 h 6858000"/>
              <a:gd name="connsiteX1" fmla="*/ 7251700 w 12192000"/>
              <a:gd name="connsiteY1" fmla="*/ 1270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0 h 6858000"/>
              <a:gd name="connsiteX0" fmla="*/ 0 w 7785100"/>
              <a:gd name="connsiteY0" fmla="*/ 0 h 6858000"/>
              <a:gd name="connsiteX1" fmla="*/ 7251700 w 7785100"/>
              <a:gd name="connsiteY1" fmla="*/ 12700 h 6858000"/>
              <a:gd name="connsiteX2" fmla="*/ 7785100 w 7785100"/>
              <a:gd name="connsiteY2" fmla="*/ 6832600 h 6858000"/>
              <a:gd name="connsiteX3" fmla="*/ 0 w 7785100"/>
              <a:gd name="connsiteY3" fmla="*/ 6858000 h 6858000"/>
              <a:gd name="connsiteX4" fmla="*/ 0 w 7785100"/>
              <a:gd name="connsiteY4" fmla="*/ 0 h 6858000"/>
              <a:gd name="connsiteX0" fmla="*/ 0 w 8682083"/>
              <a:gd name="connsiteY0" fmla="*/ 0 h 6858000"/>
              <a:gd name="connsiteX1" fmla="*/ 8148683 w 8682083"/>
              <a:gd name="connsiteY1" fmla="*/ 12700 h 6858000"/>
              <a:gd name="connsiteX2" fmla="*/ 8682083 w 8682083"/>
              <a:gd name="connsiteY2" fmla="*/ 6832600 h 6858000"/>
              <a:gd name="connsiteX3" fmla="*/ 896983 w 8682083"/>
              <a:gd name="connsiteY3" fmla="*/ 6858000 h 6858000"/>
              <a:gd name="connsiteX4" fmla="*/ 0 w 8682083"/>
              <a:gd name="connsiteY4" fmla="*/ 0 h 6858000"/>
              <a:gd name="connsiteX0" fmla="*/ 26126 w 8708209"/>
              <a:gd name="connsiteY0" fmla="*/ 0 h 6840583"/>
              <a:gd name="connsiteX1" fmla="*/ 8174809 w 8708209"/>
              <a:gd name="connsiteY1" fmla="*/ 12700 h 6840583"/>
              <a:gd name="connsiteX2" fmla="*/ 8708209 w 8708209"/>
              <a:gd name="connsiteY2" fmla="*/ 6832600 h 6840583"/>
              <a:gd name="connsiteX3" fmla="*/ 0 w 8708209"/>
              <a:gd name="connsiteY3" fmla="*/ 6840583 h 6840583"/>
              <a:gd name="connsiteX4" fmla="*/ 26126 w 8708209"/>
              <a:gd name="connsiteY4" fmla="*/ 0 h 68405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08209" h="6840583">
                <a:moveTo>
                  <a:pt x="26126" y="0"/>
                </a:moveTo>
                <a:lnTo>
                  <a:pt x="8174809" y="12700"/>
                </a:lnTo>
                <a:lnTo>
                  <a:pt x="8708209" y="6832600"/>
                </a:lnTo>
                <a:lnTo>
                  <a:pt x="0" y="6840583"/>
                </a:lnTo>
                <a:cubicBezTo>
                  <a:pt x="8709" y="4560389"/>
                  <a:pt x="17417" y="2280194"/>
                  <a:pt x="26126" y="0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   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5660C67F-FED1-4A52-8BB6-681602854C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599" y="3429000"/>
            <a:ext cx="6530975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12" name="Untertitel 2">
            <a:extLst>
              <a:ext uri="{FF2B5EF4-FFF2-40B4-BE49-F238E27FC236}">
                <a16:creationId xmlns:a16="http://schemas.microsoft.com/office/drawing/2014/main" id="{1479E72A-70A9-4EE1-A77B-8E907C4A2D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599" y="1736725"/>
            <a:ext cx="6315075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 dirty="0"/>
          </a:p>
        </p:txBody>
      </p:sp>
      <p:pic>
        <p:nvPicPr>
          <p:cNvPr id="14" name="Grafik 1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2ABD550D-91E8-47A8-B795-738A4BCA960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BBB40F93-65D6-4149-B050-3391578239F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254875" y="-1"/>
            <a:ext cx="4937125" cy="6867666"/>
          </a:xfrm>
          <a:custGeom>
            <a:avLst/>
            <a:gdLst>
              <a:gd name="connsiteX0" fmla="*/ 0 w 11204656"/>
              <a:gd name="connsiteY0" fmla="*/ 0 h 6858000"/>
              <a:gd name="connsiteX1" fmla="*/ 11204656 w 11204656"/>
              <a:gd name="connsiteY1" fmla="*/ 0 h 6858000"/>
              <a:gd name="connsiteX2" fmla="*/ 11204656 w 11204656"/>
              <a:gd name="connsiteY2" fmla="*/ 6858000 h 6858000"/>
              <a:gd name="connsiteX3" fmla="*/ 1215824 w 1120465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204656" h="6858000">
                <a:moveTo>
                  <a:pt x="0" y="0"/>
                </a:moveTo>
                <a:lnTo>
                  <a:pt x="11204656" y="0"/>
                </a:lnTo>
                <a:lnTo>
                  <a:pt x="11204656" y="6858000"/>
                </a:lnTo>
                <a:lnTo>
                  <a:pt x="1215824" y="6858000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extplatzhalter 2">
            <a:extLst>
              <a:ext uri="{FF2B5EF4-FFF2-40B4-BE49-F238E27FC236}">
                <a16:creationId xmlns:a16="http://schemas.microsoft.com/office/drawing/2014/main" id="{30C08A1F-7110-46BF-80E3-5D4C853782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6530975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372899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AE24BA-B819-4480-B7C5-BEEF871B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EAB754-52DE-483E-9141-006ADE499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56329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5378450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50" y="1736725"/>
            <a:ext cx="5378450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05E3CC9-E682-422B-B7B9-2A2A3E013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518822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537845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6"/>
            <a:ext cx="5378450" cy="3887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C2538BF5-19DF-4B5C-80A3-4548339C13B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03951" y="404813"/>
            <a:ext cx="5378450" cy="5219700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A0BE6F2D-5EC5-4864-A9A0-FC3ECA391A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5624513"/>
            <a:ext cx="5378449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52380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1736725"/>
            <a:ext cx="3506788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1736725"/>
            <a:ext cx="3516313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1736724"/>
            <a:ext cx="3506787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235066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404814"/>
            <a:ext cx="3506788" cy="27550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CBECC23C-3AC7-4872-8833-394650436FF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3429000"/>
            <a:ext cx="3506788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280716C9-98F3-44C3-A27D-E96BE6D11AE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09601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343399" y="404814"/>
            <a:ext cx="3516313" cy="27550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FEFC7CA1-8B2C-4227-AB03-708CA25B752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43399" y="3429000"/>
            <a:ext cx="3516313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3CF89BD5-C523-4AD3-9AF6-B6AABF612D1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2925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8075613" y="404813"/>
            <a:ext cx="3506787" cy="27550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7" name="Bildplatzhalter 5">
            <a:extLst>
              <a:ext uri="{FF2B5EF4-FFF2-40B4-BE49-F238E27FC236}">
                <a16:creationId xmlns:a16="http://schemas.microsoft.com/office/drawing/2014/main" id="{6FE31676-EF83-4ECE-8009-0FC4D5A7187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075613" y="3429000"/>
            <a:ext cx="3506787" cy="2195513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A4BDBAA4-F784-4AF6-8050-D275CB31D15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075612" y="5624513"/>
            <a:ext cx="35067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0324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009D3A-1DA9-42E3-BD19-D18DF18C75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1736725"/>
            <a:ext cx="2606675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1736725"/>
            <a:ext cx="2592387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1736724"/>
            <a:ext cx="2592388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1736724"/>
            <a:ext cx="2606675" cy="41052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718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nhalte - Text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712EFA-292C-4FDE-8669-ECF55A14AF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599" y="404813"/>
            <a:ext cx="2606675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10" name="Bildplatzhalter 5">
            <a:extLst>
              <a:ext uri="{FF2B5EF4-FFF2-40B4-BE49-F238E27FC236}">
                <a16:creationId xmlns:a16="http://schemas.microsoft.com/office/drawing/2014/main" id="{6F1AB9C3-872C-41DD-AAFB-12824DBEE81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599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E9E05B2F-0577-47C9-8146-C4868416C57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09601" y="5624513"/>
            <a:ext cx="2606674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071CA00-13E3-4CD8-95FE-107C69DD6B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95663" y="404813"/>
            <a:ext cx="2592387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9" name="Bildplatzhalter 5">
            <a:extLst>
              <a:ext uri="{FF2B5EF4-FFF2-40B4-BE49-F238E27FC236}">
                <a16:creationId xmlns:a16="http://schemas.microsoft.com/office/drawing/2014/main" id="{9EF6DC9D-F43A-4B05-BC55-F3417C310F5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395663" y="3429000"/>
            <a:ext cx="2592387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9C69ADDD-319E-4394-8BC9-FC045CE072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95663" y="5624513"/>
            <a:ext cx="2592387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2870569-2112-4A6F-963E-3D12B28F16F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404812"/>
            <a:ext cx="2592388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8" name="Bildplatzhalter 5">
            <a:extLst>
              <a:ext uri="{FF2B5EF4-FFF2-40B4-BE49-F238E27FC236}">
                <a16:creationId xmlns:a16="http://schemas.microsoft.com/office/drawing/2014/main" id="{D28AB6FB-FFC3-4AE6-90AB-D58E7C728BA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03949" y="3429000"/>
            <a:ext cx="2592388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4" name="Textplatzhalter 6">
            <a:extLst>
              <a:ext uri="{FF2B5EF4-FFF2-40B4-BE49-F238E27FC236}">
                <a16:creationId xmlns:a16="http://schemas.microsoft.com/office/drawing/2014/main" id="{744C123A-AE63-4AD9-ACB1-ADF41031505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03950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F6651BA5-A3F0-4102-8AB5-302B2F2EFD2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975725" y="404812"/>
            <a:ext cx="2606675" cy="27368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 dirty="0"/>
          </a:p>
        </p:txBody>
      </p:sp>
      <p:sp>
        <p:nvSpPr>
          <p:cNvPr id="11" name="Bildplatzhalter 5">
            <a:extLst>
              <a:ext uri="{FF2B5EF4-FFF2-40B4-BE49-F238E27FC236}">
                <a16:creationId xmlns:a16="http://schemas.microsoft.com/office/drawing/2014/main" id="{F80E9119-D6F6-4FA2-9F16-025406D0F87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975725" y="3429000"/>
            <a:ext cx="2606675" cy="2195514"/>
          </a:xfr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 dirty="0"/>
          </a:p>
        </p:txBody>
      </p:sp>
      <p:sp>
        <p:nvSpPr>
          <p:cNvPr id="15" name="Textplatzhalter 6">
            <a:extLst>
              <a:ext uri="{FF2B5EF4-FFF2-40B4-BE49-F238E27FC236}">
                <a16:creationId xmlns:a16="http://schemas.microsoft.com/office/drawing/2014/main" id="{55313796-962D-4CF1-AC12-A82B830904C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990012" y="5624513"/>
            <a:ext cx="2592388" cy="433387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76663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7D54C4-ACE0-4B7B-B43C-B80F732EA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4"/>
            <a:ext cx="10972800" cy="6477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18165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42711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vollfläch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07AA28B-E0BB-4588-9126-08A9723C34F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en-US"/>
              <a:t>Click icon to add picture</a:t>
            </a:r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49D899A4-C882-4DED-9C15-ACC467479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5D0AE451-788D-480F-872A-9EB3DCE41B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03950" y="6057900"/>
            <a:ext cx="5378450" cy="44158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" panose="02020502060505020204" pitchFamily="18" charset="0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05369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648956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3733801"/>
            <a:ext cx="10972800" cy="914400"/>
          </a:xfrm>
        </p:spPr>
        <p:txBody>
          <a:bodyPr/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968241"/>
            <a:ext cx="10972800" cy="873760"/>
          </a:xfr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417381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Blau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3CC3083-A26C-4FFF-ABB9-A52A975CA5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5988050" y="0"/>
            <a:ext cx="6203950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7508875" cy="6858000"/>
          </a:xfrm>
          <a:custGeom>
            <a:avLst/>
            <a:gdLst>
              <a:gd name="connsiteX0" fmla="*/ 0 w 6924675"/>
              <a:gd name="connsiteY0" fmla="*/ 0 h 6858000"/>
              <a:gd name="connsiteX1" fmla="*/ 692467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6924675"/>
              <a:gd name="connsiteY0" fmla="*/ 0 h 6858000"/>
              <a:gd name="connsiteX1" fmla="*/ 568642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6924675"/>
              <a:gd name="connsiteY0" fmla="*/ 0 h 6858000"/>
              <a:gd name="connsiteX1" fmla="*/ 6283325 w 6924675"/>
              <a:gd name="connsiteY1" fmla="*/ 0 h 6858000"/>
              <a:gd name="connsiteX2" fmla="*/ 6924675 w 6924675"/>
              <a:gd name="connsiteY2" fmla="*/ 6858000 h 6858000"/>
              <a:gd name="connsiteX3" fmla="*/ 0 w 6924675"/>
              <a:gd name="connsiteY3" fmla="*/ 6858000 h 6858000"/>
              <a:gd name="connsiteX4" fmla="*/ 0 w 6924675"/>
              <a:gd name="connsiteY4" fmla="*/ 0 h 6858000"/>
              <a:gd name="connsiteX0" fmla="*/ 0 w 7508875"/>
              <a:gd name="connsiteY0" fmla="*/ 0 h 6858000"/>
              <a:gd name="connsiteX1" fmla="*/ 6283325 w 7508875"/>
              <a:gd name="connsiteY1" fmla="*/ 0 h 6858000"/>
              <a:gd name="connsiteX2" fmla="*/ 7508875 w 7508875"/>
              <a:gd name="connsiteY2" fmla="*/ 6858000 h 6858000"/>
              <a:gd name="connsiteX3" fmla="*/ 0 w 7508875"/>
              <a:gd name="connsiteY3" fmla="*/ 6858000 h 6858000"/>
              <a:gd name="connsiteX4" fmla="*/ 0 w 750887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8875" h="6858000">
                <a:moveTo>
                  <a:pt x="0" y="0"/>
                </a:moveTo>
                <a:lnTo>
                  <a:pt x="6283325" y="0"/>
                </a:lnTo>
                <a:lnTo>
                  <a:pt x="7508875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2268539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5378450" cy="2700338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967086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Weiß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5378450" cy="863601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3141662"/>
            <a:ext cx="3506788" cy="270033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6D9D1B83-BB64-4D87-85E3-7B792A9EDEC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43400" y="-2537398"/>
            <a:ext cx="13780478" cy="14516845"/>
          </a:xfrm>
          <a:custGeom>
            <a:avLst/>
            <a:gdLst>
              <a:gd name="connsiteX0" fmla="*/ 6162192 w 13780478"/>
              <a:gd name="connsiteY0" fmla="*/ 0 h 14516845"/>
              <a:gd name="connsiteX1" fmla="*/ 12500658 w 13780478"/>
              <a:gd name="connsiteY1" fmla="*/ 0 h 14516845"/>
              <a:gd name="connsiteX2" fmla="*/ 13780478 w 13780478"/>
              <a:gd name="connsiteY2" fmla="*/ 7258316 h 14516845"/>
              <a:gd name="connsiteX3" fmla="*/ 7258530 w 13780478"/>
              <a:gd name="connsiteY3" fmla="*/ 7258316 h 14516845"/>
              <a:gd name="connsiteX4" fmla="*/ 0 w 13780478"/>
              <a:gd name="connsiteY4" fmla="*/ 14516845 h 14516845"/>
              <a:gd name="connsiteX5" fmla="*/ 212 w 13780478"/>
              <a:gd name="connsiteY5" fmla="*/ 6162191 h 14516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780478" h="14516845">
                <a:moveTo>
                  <a:pt x="6162192" y="0"/>
                </a:moveTo>
                <a:lnTo>
                  <a:pt x="12500658" y="0"/>
                </a:lnTo>
                <a:lnTo>
                  <a:pt x="13780478" y="7258316"/>
                </a:lnTo>
                <a:lnTo>
                  <a:pt x="7258530" y="7258316"/>
                </a:lnTo>
                <a:lnTo>
                  <a:pt x="0" y="14516845"/>
                </a:lnTo>
                <a:lnTo>
                  <a:pt x="212" y="6162191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2595084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beginn_Farbe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4"/>
            <a:ext cx="3506788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 dirty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599" y="2461846"/>
            <a:ext cx="3506789" cy="1254492"/>
          </a:xfrm>
          <a:prstGeom prst="rect">
            <a:avLst/>
          </a:prstGeom>
        </p:spPr>
        <p:txBody>
          <a:bodyPr anchor="t" anchorCtr="0"/>
          <a:lstStyle>
            <a:lvl1pPr>
              <a:defRPr lang="de-DE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26D725AF-5383-4E5D-A2D3-3FABBEC0B6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768456" y="-9550923"/>
            <a:ext cx="13977778" cy="25385171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753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>
            <a:extLst>
              <a:ext uri="{FF2B5EF4-FFF2-40B4-BE49-F238E27FC236}">
                <a16:creationId xmlns:a16="http://schemas.microsoft.com/office/drawing/2014/main" id="{2664A485-C158-4BFC-B46D-7201DF28B9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1613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_Farb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79737FE-1C79-470F-BA5B-0406C5992B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7061B13-C907-4A87-B55A-8284A73D5D9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10972800" cy="4173438"/>
          </a:xfrm>
        </p:spPr>
        <p:txBody>
          <a:bodyPr/>
          <a:lstStyle>
            <a:lvl1pPr>
              <a:defRPr lang="de-DE" sz="3200" i="1" dirty="0">
                <a:solidFill>
                  <a:schemeClr val="bg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354320"/>
            <a:ext cx="10972800" cy="487680"/>
          </a:xfrm>
        </p:spPr>
        <p:txBody>
          <a:bodyPr anchor="b" anchorCtr="0"/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048EAF-9787-48D5-83DB-543645FD8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6556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itat_Farbe +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9E4E10E8-4BB9-460B-9BDB-62195F7C8E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Textplatzhalter 3">
            <a:extLst>
              <a:ext uri="{FF2B5EF4-FFF2-40B4-BE49-F238E27FC236}">
                <a16:creationId xmlns:a16="http://schemas.microsoft.com/office/drawing/2014/main" id="{0C75E21A-6BBF-4B32-A70F-301838EEE21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0" y="873125"/>
            <a:ext cx="5378450" cy="4173438"/>
          </a:xfrm>
        </p:spPr>
        <p:txBody>
          <a:bodyPr/>
          <a:lstStyle>
            <a:lvl1pPr>
              <a:defRPr lang="de-DE" sz="3600" b="0" i="1" kern="1200" dirty="0">
                <a:solidFill>
                  <a:schemeClr val="tx1"/>
                </a:solidFill>
                <a:latin typeface="Noto Serif Light" panose="02020502060505020204" pitchFamily="18"/>
                <a:ea typeface="Noto Serif Light" panose="02020502060505020204" pitchFamily="18"/>
                <a:cs typeface="Noto Serif Light" panose="02020502060505020204" pitchFamily="18"/>
              </a:defRPr>
            </a:lvl1pPr>
          </a:lstStyle>
          <a:p>
            <a:pPr lvl="0"/>
            <a:r>
              <a:rPr lang="de-DE" dirty="0"/>
              <a:t>Zitat</a:t>
            </a:r>
          </a:p>
        </p:txBody>
      </p:sp>
      <p:sp>
        <p:nvSpPr>
          <p:cNvPr id="6" name="Textplatzhalter 6">
            <a:extLst>
              <a:ext uri="{FF2B5EF4-FFF2-40B4-BE49-F238E27FC236}">
                <a16:creationId xmlns:a16="http://schemas.microsoft.com/office/drawing/2014/main" id="{26026BCD-A072-422C-AB4B-2FA548C4F71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624512"/>
            <a:ext cx="5378450" cy="433387"/>
          </a:xfrm>
        </p:spPr>
        <p:txBody>
          <a:bodyPr anchor="b" anchorCtr="0"/>
          <a:lstStyle>
            <a:lvl1pPr>
              <a:defRPr sz="1400" i="0">
                <a:latin typeface="+mj-lt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Wer wird zitiert, Quelle</a:t>
            </a:r>
            <a:endParaRPr lang="en-US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5A73340-69A4-498B-8B80-80BE3D0772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2EB2E58B-9728-4374-A113-BCFD69F6357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15598" y="-4693921"/>
            <a:ext cx="10770898" cy="19561127"/>
          </a:xfrm>
          <a:custGeom>
            <a:avLst/>
            <a:gdLst>
              <a:gd name="connsiteX0" fmla="*/ 6127784 w 13977778"/>
              <a:gd name="connsiteY0" fmla="*/ 0 h 25385171"/>
              <a:gd name="connsiteX1" fmla="*/ 13977778 w 13977778"/>
              <a:gd name="connsiteY1" fmla="*/ 7849993 h 25385171"/>
              <a:gd name="connsiteX2" fmla="*/ 13977778 w 13977778"/>
              <a:gd name="connsiteY2" fmla="*/ 19429729 h 25385171"/>
              <a:gd name="connsiteX3" fmla="*/ 8022336 w 13977778"/>
              <a:gd name="connsiteY3" fmla="*/ 25385171 h 25385171"/>
              <a:gd name="connsiteX4" fmla="*/ 0 w 13977778"/>
              <a:gd name="connsiteY4" fmla="*/ 19767992 h 25385171"/>
              <a:gd name="connsiteX5" fmla="*/ 6127960 w 13977778"/>
              <a:gd name="connsiteY5" fmla="*/ 13640034 h 253851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77778" h="25385171">
                <a:moveTo>
                  <a:pt x="6127784" y="0"/>
                </a:moveTo>
                <a:lnTo>
                  <a:pt x="13977778" y="7849993"/>
                </a:lnTo>
                <a:lnTo>
                  <a:pt x="13977778" y="19429729"/>
                </a:lnTo>
                <a:lnTo>
                  <a:pt x="8022336" y="25385171"/>
                </a:lnTo>
                <a:lnTo>
                  <a:pt x="0" y="19767992"/>
                </a:lnTo>
                <a:lnTo>
                  <a:pt x="6127960" y="13640034"/>
                </a:lnTo>
                <a:close/>
              </a:path>
            </a:pathLst>
          </a:custGeom>
          <a:solidFill>
            <a:schemeClr val="bg2">
              <a:lumMod val="95000"/>
            </a:schemeClr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53071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7056120"/>
            <a:ext cx="23070503" cy="2307050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2997200"/>
            <a:ext cx="10972800" cy="719138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1" y="4297679"/>
            <a:ext cx="10972800" cy="1544321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67901769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A03FB50-6373-4EEB-AE2A-E41E5293A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158240" y="-6925627"/>
            <a:ext cx="14660880" cy="1466088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D88D79D-95E0-48C6-B019-1226D5FFE8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7" name="Titel 1">
            <a:extLst>
              <a:ext uri="{FF2B5EF4-FFF2-40B4-BE49-F238E27FC236}">
                <a16:creationId xmlns:a16="http://schemas.microsoft.com/office/drawing/2014/main" id="{1F6757A7-BF21-40B3-87C7-F536EB125A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8A27A73C-FDCC-408D-8A9B-5EBAC19162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4937325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69B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5" name="Grafik 7">
            <a:extLst>
              <a:ext uri="{FF2B5EF4-FFF2-40B4-BE49-F238E27FC236}">
                <a16:creationId xmlns:a16="http://schemas.microsoft.com/office/drawing/2014/main" id="{ACAEB40F-408E-4739-B8F1-87C3D3468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-5498743" y="-5465484"/>
            <a:ext cx="17788812" cy="17788968"/>
            <a:chOff x="-14264640" y="-3715061"/>
            <a:chExt cx="22488583" cy="22488781"/>
          </a:xfrm>
          <a:solidFill>
            <a:schemeClr val="accent2"/>
          </a:solidFill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195269A-E3C2-4E88-93E3-F49E631252D9}"/>
                </a:ext>
              </a:extLst>
            </p:cNvPr>
            <p:cNvSpPr/>
            <p:nvPr/>
          </p:nvSpPr>
          <p:spPr>
            <a:xfrm>
              <a:off x="-7293192" y="-3715061"/>
              <a:ext cx="15517136" cy="14730115"/>
            </a:xfrm>
            <a:custGeom>
              <a:avLst/>
              <a:gdLst>
                <a:gd name="connsiteX0" fmla="*/ 15517137 w 15517136"/>
                <a:gd name="connsiteY0" fmla="*/ 13362007 h 14730115"/>
                <a:gd name="connsiteX1" fmla="*/ 7758668 w 15517136"/>
                <a:gd name="connsiteY1" fmla="*/ 14730115 h 14730115"/>
                <a:gd name="connsiteX2" fmla="*/ 7758668 w 15517136"/>
                <a:gd name="connsiteY2" fmla="*/ 7758667 h 14730115"/>
                <a:gd name="connsiteX3" fmla="*/ 0 w 15517136"/>
                <a:gd name="connsiteY3" fmla="*/ 0 h 14730115"/>
                <a:gd name="connsiteX4" fmla="*/ 8930316 w 15517136"/>
                <a:gd name="connsiteY4" fmla="*/ 198 h 14730115"/>
                <a:gd name="connsiteX5" fmla="*/ 15517137 w 15517136"/>
                <a:gd name="connsiteY5" fmla="*/ 6586821 h 14730115"/>
                <a:gd name="connsiteX6" fmla="*/ 15517137 w 15517136"/>
                <a:gd name="connsiteY6" fmla="*/ 13362007 h 147301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136" h="14730115">
                  <a:moveTo>
                    <a:pt x="15517137" y="13362007"/>
                  </a:moveTo>
                  <a:lnTo>
                    <a:pt x="7758668" y="14730115"/>
                  </a:lnTo>
                  <a:lnTo>
                    <a:pt x="7758668" y="7758667"/>
                  </a:lnTo>
                  <a:lnTo>
                    <a:pt x="0" y="0"/>
                  </a:lnTo>
                  <a:lnTo>
                    <a:pt x="8930316" y="198"/>
                  </a:lnTo>
                  <a:lnTo>
                    <a:pt x="15517137" y="6586821"/>
                  </a:lnTo>
                  <a:lnTo>
                    <a:pt x="15517137" y="13362007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1539E4E4-5E00-4985-8757-11EFDE979DB4}"/>
                </a:ext>
              </a:extLst>
            </p:cNvPr>
            <p:cNvSpPr/>
            <p:nvPr/>
          </p:nvSpPr>
          <p:spPr>
            <a:xfrm>
              <a:off x="-14264640" y="4043604"/>
              <a:ext cx="15517334" cy="14730114"/>
            </a:xfrm>
            <a:custGeom>
              <a:avLst/>
              <a:gdLst>
                <a:gd name="connsiteX0" fmla="*/ 0 w 15517334"/>
                <a:gd name="connsiteY0" fmla="*/ 1368109 h 14730114"/>
                <a:gd name="connsiteX1" fmla="*/ 7758470 w 15517334"/>
                <a:gd name="connsiteY1" fmla="*/ 0 h 14730114"/>
                <a:gd name="connsiteX2" fmla="*/ 7758470 w 15517334"/>
                <a:gd name="connsiteY2" fmla="*/ 6971449 h 14730114"/>
                <a:gd name="connsiteX3" fmla="*/ 15517335 w 15517334"/>
                <a:gd name="connsiteY3" fmla="*/ 14730115 h 14730114"/>
                <a:gd name="connsiteX4" fmla="*/ 6586822 w 15517334"/>
                <a:gd name="connsiteY4" fmla="*/ 14730115 h 14730114"/>
                <a:gd name="connsiteX5" fmla="*/ 0 w 15517334"/>
                <a:gd name="connsiteY5" fmla="*/ 8143294 h 14730114"/>
                <a:gd name="connsiteX6" fmla="*/ 0 w 15517334"/>
                <a:gd name="connsiteY6" fmla="*/ 1368109 h 14730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5517334" h="14730114">
                  <a:moveTo>
                    <a:pt x="0" y="1368109"/>
                  </a:moveTo>
                  <a:lnTo>
                    <a:pt x="7758470" y="0"/>
                  </a:lnTo>
                  <a:lnTo>
                    <a:pt x="7758470" y="6971449"/>
                  </a:lnTo>
                  <a:lnTo>
                    <a:pt x="15517335" y="14730115"/>
                  </a:lnTo>
                  <a:lnTo>
                    <a:pt x="6586822" y="14730115"/>
                  </a:lnTo>
                  <a:lnTo>
                    <a:pt x="0" y="8143294"/>
                  </a:lnTo>
                  <a:lnTo>
                    <a:pt x="0" y="1368109"/>
                  </a:lnTo>
                  <a:close/>
                </a:path>
              </a:pathLst>
            </a:custGeom>
            <a:grpFill/>
            <a:ln w="1974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599" y="1052513"/>
            <a:ext cx="7250113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599" y="2286952"/>
            <a:ext cx="7250113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9651210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8B1607CC-7926-42F8-A9D4-9EB30CCC42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4874240" y="-12475330"/>
            <a:ext cx="44978353" cy="318086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609600" y="1052513"/>
            <a:ext cx="4441826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 userDrawn="1">
            <p:ph type="body" sz="quarter" idx="10"/>
          </p:nvPr>
        </p:nvSpPr>
        <p:spPr>
          <a:xfrm>
            <a:off x="609600" y="2286952"/>
            <a:ext cx="4441826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DD72FC72-0865-4AAF-8322-C3045B845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00395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8C8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A26BB01A-29ED-4144-A31A-DD51B56061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445953" y="-7589795"/>
            <a:ext cx="39323474" cy="2336855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1052513"/>
            <a:ext cx="53340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</a:t>
            </a:r>
            <a:br>
              <a:rPr lang="de-DE" dirty="0"/>
            </a:br>
            <a:r>
              <a:rPr lang="de-DE" dirty="0"/>
              <a:t>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5334000" cy="108965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8C077647-9C5F-4C27-93BC-289003A545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5642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AAA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A585B0F-EAE3-4972-B2DD-61B691A3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568399" y="-22289839"/>
            <a:ext cx="37239647" cy="53967254"/>
          </a:xfrm>
          <a:prstGeom prst="rect">
            <a:avLst/>
          </a:prstGeom>
        </p:spPr>
      </p:pic>
      <p:sp>
        <p:nvSpPr>
          <p:cNvPr id="11" name="Titel 1">
            <a:extLst>
              <a:ext uri="{FF2B5EF4-FFF2-40B4-BE49-F238E27FC236}">
                <a16:creationId xmlns:a16="http://schemas.microsoft.com/office/drawing/2014/main" id="{53F19BAF-18FD-44C8-85CA-F8853215C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052513"/>
            <a:ext cx="10972800" cy="914400"/>
          </a:xfrm>
          <a:prstGeom prst="rect">
            <a:avLst/>
          </a:prstGeom>
        </p:spPr>
        <p:txBody>
          <a:bodyPr/>
          <a:lstStyle>
            <a:lvl1pPr>
              <a:defRPr sz="360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2" name="Textplatzhalter 8">
            <a:extLst>
              <a:ext uri="{FF2B5EF4-FFF2-40B4-BE49-F238E27FC236}">
                <a16:creationId xmlns:a16="http://schemas.microsoft.com/office/drawing/2014/main" id="{7CA3D32E-E2F8-4C0E-AF41-451C832967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286952"/>
            <a:ext cx="10972800" cy="1142048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DA0901FF-14F3-43C6-9205-4A412557C2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82948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eite_variabel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5BE95944-ACF5-4BF5-8A9C-A6B4D5A92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FBB6767-F2B8-4BAA-BF07-3F9A160B3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484427" y="-5069549"/>
            <a:ext cx="18380919" cy="1821111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5C91A62C-18CD-4962-933C-7CEB68A0A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873125"/>
            <a:ext cx="10972800" cy="914400"/>
          </a:xfrm>
          <a:prstGeom prst="rect">
            <a:avLst/>
          </a:prstGeom>
        </p:spPr>
        <p:txBody>
          <a:bodyPr tIns="0"/>
          <a:lstStyle>
            <a:lvl1pPr>
              <a:defRPr sz="36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EDD549F4-C90A-437D-902A-3E9CE85D8A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2107565"/>
            <a:ext cx="10972800" cy="87376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961879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_Blau-Bl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6E57C58-43E6-4DA0-BC7D-0DB0606AB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8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9BDB7B-ED04-48F9-A597-5D65D94A30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-4760594" y="-4145914"/>
            <a:ext cx="17099914" cy="17099914"/>
          </a:xfrm>
          <a:prstGeom prst="rect">
            <a:avLst/>
          </a:prstGeom>
        </p:spPr>
      </p:pic>
      <p:sp>
        <p:nvSpPr>
          <p:cNvPr id="10" name="Titel 1">
            <a:extLst>
              <a:ext uri="{FF2B5EF4-FFF2-40B4-BE49-F238E27FC236}">
                <a16:creationId xmlns:a16="http://schemas.microsoft.com/office/drawing/2014/main" id="{1E516721-5786-4D57-87BF-FB724C98CD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3429000"/>
            <a:ext cx="10972800" cy="2196296"/>
          </a:xfrm>
          <a:prstGeom prst="rect">
            <a:avLst/>
          </a:prstGeom>
        </p:spPr>
        <p:txBody>
          <a:bodyPr anchor="t"/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7F963C2-5833-44AC-B450-8D1C60C75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1736725"/>
            <a:ext cx="10972800" cy="1404937"/>
          </a:xfrm>
        </p:spPr>
        <p:txBody>
          <a:bodyPr anchor="b"/>
          <a:lstStyle>
            <a:lvl1pPr marL="0" indent="0" algn="l">
              <a:buNone/>
              <a:defRPr sz="20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/>
              <a:t>Master-Untertitelformat bearbeiten</a:t>
            </a:r>
          </a:p>
        </p:txBody>
      </p:sp>
      <p:pic>
        <p:nvPicPr>
          <p:cNvPr id="9" name="Grafik 8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CB286486-4081-46A3-8FB1-838C770D442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CEC26066-137F-4859-8099-2F31E34E41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6312025"/>
            <a:ext cx="7833064" cy="256573"/>
          </a:xfr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61728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99AD44A7-FBE6-494B-B2A9-85542E1AE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2633468" y="-5918273"/>
            <a:ext cx="18354113" cy="18354113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1CBF57BC-B38C-414F-92BB-F40579F88EE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B2B44DCF-A510-4A00-82ED-05FBF8B59E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116388" y="6207760"/>
            <a:ext cx="5599112" cy="286068"/>
          </a:xfrm>
        </p:spPr>
        <p:txBody>
          <a:bodyPr anchor="b" anchorCtr="0"/>
          <a:lstStyle>
            <a:lvl1pPr>
              <a:defRPr sz="1200" i="0">
                <a:solidFill>
                  <a:schemeClr val="bg1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9804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1974DA36-F6FF-4071-9FE9-C71612DFE91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/>
          <a:p>
            <a:endParaRPr 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FED2FBAC-C92F-4FEA-8170-E94EC94CC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3500000">
            <a:off x="-4681402" y="-7532589"/>
            <a:ext cx="21582744" cy="21582744"/>
          </a:xfrm>
          <a:prstGeom prst="rect">
            <a:avLst/>
          </a:prstGeom>
        </p:spPr>
      </p:pic>
      <p:pic>
        <p:nvPicPr>
          <p:cNvPr id="4" name="Grafik 3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79C7FCDB-8A5F-4D8C-B998-2CC83B8C890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1" y="404813"/>
            <a:ext cx="1981199" cy="660400"/>
          </a:xfrm>
          <a:prstGeom prst="rect">
            <a:avLst/>
          </a:prstGeom>
        </p:spPr>
      </p:pic>
      <p:sp>
        <p:nvSpPr>
          <p:cNvPr id="5" name="Textplatzhalter 6">
            <a:extLst>
              <a:ext uri="{FF2B5EF4-FFF2-40B4-BE49-F238E27FC236}">
                <a16:creationId xmlns:a16="http://schemas.microsoft.com/office/drawing/2014/main" id="{FFB4AAEC-A7C5-4365-B424-8E68D40435B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8926" y="6177280"/>
            <a:ext cx="5581650" cy="316548"/>
          </a:xfrm>
        </p:spPr>
        <p:txBody>
          <a:bodyPr anchor="b" anchorCtr="0"/>
          <a:lstStyle>
            <a:lvl1pPr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65763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seite_variabel + Bild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8DD5EDA3-D92A-4B08-8595-D60EA53E8A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FA055B95-2710-46A2-8317-9CAA31D48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752599"/>
            <a:ext cx="4441825" cy="1382897"/>
          </a:xfrm>
          <a:prstGeom prst="rect">
            <a:avLst/>
          </a:prstGeom>
        </p:spPr>
        <p:txBody>
          <a:bodyPr tIns="0"/>
          <a:lstStyle>
            <a:lvl1pPr>
              <a:defRPr lang="de-DE" dirty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A522852-F16F-46A0-B72D-3039550F8A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9600" y="4459102"/>
            <a:ext cx="4441824" cy="1382897"/>
          </a:xfrm>
          <a:prstGeom prst="rect">
            <a:avLst/>
          </a:prstGeom>
        </p:spPr>
        <p:txBody>
          <a:bodyPr anchor="b" anchorCtr="0"/>
          <a:lstStyle>
            <a:lvl1pPr>
              <a:defRPr lang="de-DE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144DEC0-CBFA-4BDA-A78C-86ED757F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7B07D508-A251-41EA-8DE7-63892057591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267325" y="0"/>
            <a:ext cx="10255588" cy="6858000"/>
          </a:xfrm>
          <a:custGeom>
            <a:avLst/>
            <a:gdLst>
              <a:gd name="connsiteX0" fmla="*/ 0 w 10255588"/>
              <a:gd name="connsiteY0" fmla="*/ 0 h 6858000"/>
              <a:gd name="connsiteX1" fmla="*/ 10255588 w 10255588"/>
              <a:gd name="connsiteY1" fmla="*/ 0 h 6858000"/>
              <a:gd name="connsiteX2" fmla="*/ 10255588 w 10255588"/>
              <a:gd name="connsiteY2" fmla="*/ 6858000 h 6858000"/>
              <a:gd name="connsiteX3" fmla="*/ 1215823 w 102555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255588" h="6858000">
                <a:moveTo>
                  <a:pt x="0" y="0"/>
                </a:moveTo>
                <a:lnTo>
                  <a:pt x="10255588" y="0"/>
                </a:lnTo>
                <a:lnTo>
                  <a:pt x="10255588" y="6858000"/>
                </a:lnTo>
                <a:lnTo>
                  <a:pt x="1215823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5365122-AA94-4D9A-8BDB-BC7E3297FDE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796338" y="6057900"/>
            <a:ext cx="2786062" cy="435928"/>
          </a:xfrm>
        </p:spPr>
        <p:txBody>
          <a:bodyPr anchor="b" anchorCtr="0"/>
          <a:lstStyle>
            <a:lvl1pPr algn="r">
              <a:defRPr sz="1200" i="0">
                <a:solidFill>
                  <a:schemeClr val="tx2"/>
                </a:solidFill>
                <a:latin typeface="Noto Serif (Textkörper)"/>
                <a:ea typeface="Noto Serif" panose="02020502060505020204" pitchFamily="18" charset="0"/>
                <a:cs typeface="Noto Serif" panose="02020502060505020204" pitchFamily="18" charset="0"/>
              </a:defRPr>
            </a:lvl1pPr>
          </a:lstStyle>
          <a:p>
            <a:pPr lvl="0"/>
            <a:r>
              <a:rPr lang="de-DE" dirty="0"/>
              <a:t>Bildunterschrift und © Copyright</a:t>
            </a:r>
            <a:endParaRPr lang="en-US" dirty="0"/>
          </a:p>
        </p:txBody>
      </p:sp>
      <p:pic>
        <p:nvPicPr>
          <p:cNvPr id="11" name="Grafik 10" descr="Logo der TUD: einfarbig blau, Bildelement (punktsymetrische Anordnung zweier gleicher flächiger Winkelelemente) rechts daneben dreizeiliger Text: Technische Universität Dresden">
            <a:extLst>
              <a:ext uri="{FF2B5EF4-FFF2-40B4-BE49-F238E27FC236}">
                <a16:creationId xmlns:a16="http://schemas.microsoft.com/office/drawing/2014/main" id="{3CEFA202-FC75-4BA0-ACC7-222E3B636ED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404813"/>
            <a:ext cx="1980000" cy="6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1165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image" Target="../media/image2.sv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3.xml"/><Relationship Id="rId1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2.xml"/><Relationship Id="rId5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41.xml"/><Relationship Id="rId4" Type="http://schemas.openxmlformats.org/officeDocument/2006/relationships/slideLayout" Target="../slideLayouts/slideLayout35.xml"/><Relationship Id="rId9" Type="http://schemas.openxmlformats.org/officeDocument/2006/relationships/slideLayout" Target="../slideLayouts/slideLayout40.xml"/><Relationship Id="rId14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F5E54477-AC5B-4EB3-AE9F-0854A752BD2F}"/>
              </a:ext>
            </a:extLst>
          </p:cNvPr>
          <p:cNvSpPr txBox="1"/>
          <p:nvPr userDrawn="1"/>
        </p:nvSpPr>
        <p:spPr>
          <a:xfrm>
            <a:off x="1558925" y="6308279"/>
            <a:ext cx="723741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Flashing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RIOT </a:t>
            </a:r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from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 a Browser • Fabio </a:t>
            </a:r>
            <a:r>
              <a:rPr lang="de-DE" sz="1200" kern="1200" dirty="0" err="1">
                <a:solidFill>
                  <a:srgbClr val="00008C"/>
                </a:solidFill>
                <a:latin typeface="+mn-lt"/>
                <a:ea typeface="+mn-ea"/>
                <a:cs typeface="+mn-cs"/>
              </a:rPr>
              <a:t>Lehmberg</a:t>
            </a:r>
            <a:r>
              <a:rPr lang="de-DE" sz="1200" kern="1200" dirty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, Jakob Fregin • Seite </a:t>
            </a:r>
            <a:fld id="{BB345A75-B580-4544-AA90-56924E4BB115}" type="slidenum">
              <a:rPr lang="de-DE" sz="1200" kern="1200" smtClean="0">
                <a:solidFill>
                  <a:srgbClr val="00008C"/>
                </a:solidFill>
                <a:latin typeface="+mn-lt"/>
                <a:ea typeface="+mn-ea"/>
                <a:cs typeface="+mn-cs"/>
              </a:rPr>
              <a:t>‹#›</a:t>
            </a:fld>
            <a:endParaRPr lang="en-US" sz="1200" kern="1200" dirty="0">
              <a:solidFill>
                <a:srgbClr val="00008C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2152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49" r:id="rId2"/>
    <p:sldLayoutId id="2147483705" r:id="rId3"/>
    <p:sldLayoutId id="2147483780" r:id="rId4"/>
    <p:sldLayoutId id="2147483781" r:id="rId5"/>
    <p:sldLayoutId id="2147483782" r:id="rId6"/>
    <p:sldLayoutId id="2147483783" r:id="rId7"/>
    <p:sldLayoutId id="2147483776" r:id="rId8"/>
    <p:sldLayoutId id="2147483784" r:id="rId9"/>
    <p:sldLayoutId id="2147483785" r:id="rId10"/>
    <p:sldLayoutId id="2147483769" r:id="rId11"/>
    <p:sldLayoutId id="2147483778" r:id="rId12"/>
    <p:sldLayoutId id="2147483779" r:id="rId13"/>
    <p:sldLayoutId id="2147483710" r:id="rId14"/>
    <p:sldLayoutId id="2147483652" r:id="rId15"/>
    <p:sldLayoutId id="2147483709" r:id="rId16"/>
    <p:sldLayoutId id="2147483656" r:id="rId17"/>
    <p:sldLayoutId id="2147483665" r:id="rId18"/>
    <p:sldLayoutId id="2147483657" r:id="rId19"/>
    <p:sldLayoutId id="2147483666" r:id="rId20"/>
    <p:sldLayoutId id="2147483654" r:id="rId21"/>
    <p:sldLayoutId id="2147483655" r:id="rId22"/>
    <p:sldLayoutId id="2147483694" r:id="rId23"/>
    <p:sldLayoutId id="2147483695" r:id="rId24"/>
    <p:sldLayoutId id="2147483696" r:id="rId25"/>
    <p:sldLayoutId id="2147483777" r:id="rId26"/>
    <p:sldLayoutId id="2147483771" r:id="rId27"/>
    <p:sldLayoutId id="2147483772" r:id="rId28"/>
    <p:sldLayoutId id="2147483773" r:id="rId29"/>
    <p:sldLayoutId id="2147483775" r:id="rId30"/>
    <p:sldLayoutId id="2147483774" r:id="rId3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  <p15:guide id="36" orient="horz" pos="3543" userDrawn="1">
          <p15:clr>
            <a:srgbClr val="F26B43"/>
          </p15:clr>
        </p15:guide>
        <p15:guide id="37" orient="horz" pos="197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elplatzhalter 25">
            <a:extLst>
              <a:ext uri="{FF2B5EF4-FFF2-40B4-BE49-F238E27FC236}">
                <a16:creationId xmlns:a16="http://schemas.microsoft.com/office/drawing/2014/main" id="{A5CE2D21-B81F-483B-9FE8-AF317984B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prstGeom prst="rect">
            <a:avLst/>
          </a:prstGeom>
        </p:spPr>
        <p:txBody>
          <a:bodyPr vert="horz" lIns="0" tIns="108000" rIns="0" bIns="0" rtlCol="0" anchor="t">
            <a:no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C6FA640-4158-403C-98E2-E7FCEBC54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736725"/>
            <a:ext cx="10972801" cy="431683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 erste Ebene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F0A8DA4-796C-4D83-A511-7E33ECC19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600" y="6288480"/>
            <a:ext cx="514349" cy="164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313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06" r:id="rId8"/>
    <p:sldLayoutId id="2147483767" r:id="rId9"/>
    <p:sldLayoutId id="2147483768" r:id="rId10"/>
    <p:sldLayoutId id="214748377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333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457200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690563" indent="-173038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indent="-342900" algn="l" defTabSz="914400" rtl="0" eaLnBrk="1" latinLnBrk="0" hangingPunct="1">
        <a:lnSpc>
          <a:spcPct val="100000"/>
        </a:lnSpc>
        <a:spcBef>
          <a:spcPts val="1200"/>
        </a:spcBef>
        <a:buFont typeface="Open Sans" panose="020B0606030504020204" pitchFamily="34" charset="0"/>
        <a:buChar char="—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514350" indent="-17145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" indent="-114300" algn="l" defTabSz="914400" rtl="0" eaLnBrk="1" latinLnBrk="0" hangingPunct="1">
        <a:lnSpc>
          <a:spcPct val="100000"/>
        </a:lnSpc>
        <a:spcBef>
          <a:spcPts val="500"/>
        </a:spcBef>
        <a:buFont typeface="Open Sans" panose="020B0606030504020204" pitchFamily="34" charset="0"/>
        <a:buChar char="­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800100" indent="-1143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5" userDrawn="1">
          <p15:clr>
            <a:srgbClr val="F26B43"/>
          </p15:clr>
        </p15:guide>
        <p15:guide id="3" pos="384" userDrawn="1">
          <p15:clr>
            <a:srgbClr val="F26B43"/>
          </p15:clr>
        </p15:guide>
        <p15:guide id="4" pos="7296" userDrawn="1">
          <p15:clr>
            <a:srgbClr val="F26B43"/>
          </p15:clr>
        </p15:guide>
        <p15:guide id="5" pos="846" userDrawn="1">
          <p15:clr>
            <a:srgbClr val="F26B43"/>
          </p15:clr>
        </p15:guide>
        <p15:guide id="6" pos="982" userDrawn="1">
          <p15:clr>
            <a:srgbClr val="F26B43"/>
          </p15:clr>
        </p15:guide>
        <p15:guide id="7" pos="1436" userDrawn="1">
          <p15:clr>
            <a:srgbClr val="F26B43"/>
          </p15:clr>
        </p15:guide>
        <p15:guide id="8" pos="1560" userDrawn="1">
          <p15:clr>
            <a:srgbClr val="F26B43"/>
          </p15:clr>
        </p15:guide>
        <p15:guide id="9" pos="2026" userDrawn="1">
          <p15:clr>
            <a:srgbClr val="F26B43"/>
          </p15:clr>
        </p15:guide>
        <p15:guide id="10" pos="2139" userDrawn="1">
          <p15:clr>
            <a:srgbClr val="F26B43"/>
          </p15:clr>
        </p15:guide>
        <p15:guide id="11" pos="2593" userDrawn="1">
          <p15:clr>
            <a:srgbClr val="F26B43"/>
          </p15:clr>
        </p15:guide>
        <p15:guide id="12" pos="2736" userDrawn="1">
          <p15:clr>
            <a:srgbClr val="F26B43"/>
          </p15:clr>
        </p15:guide>
        <p15:guide id="13" pos="3182" userDrawn="1">
          <p15:clr>
            <a:srgbClr val="F26B43"/>
          </p15:clr>
        </p15:guide>
        <p15:guide id="14" pos="3318" userDrawn="1">
          <p15:clr>
            <a:srgbClr val="F26B43"/>
          </p15:clr>
        </p15:guide>
        <p15:guide id="15" pos="3772" userDrawn="1">
          <p15:clr>
            <a:srgbClr val="F26B43"/>
          </p15:clr>
        </p15:guide>
        <p15:guide id="16" pos="3908" userDrawn="1">
          <p15:clr>
            <a:srgbClr val="F26B43"/>
          </p15:clr>
        </p15:guide>
        <p15:guide id="17" pos="4362" userDrawn="1">
          <p15:clr>
            <a:srgbClr val="F26B43"/>
          </p15:clr>
        </p15:guide>
        <p15:guide id="18" pos="4498" userDrawn="1">
          <p15:clr>
            <a:srgbClr val="F26B43"/>
          </p15:clr>
        </p15:guide>
        <p15:guide id="19" pos="4951" userDrawn="1">
          <p15:clr>
            <a:srgbClr val="F26B43"/>
          </p15:clr>
        </p15:guide>
        <p15:guide id="20" pos="5087" userDrawn="1">
          <p15:clr>
            <a:srgbClr val="F26B43"/>
          </p15:clr>
        </p15:guide>
        <p15:guide id="21" pos="5541" userDrawn="1">
          <p15:clr>
            <a:srgbClr val="F26B43"/>
          </p15:clr>
        </p15:guide>
        <p15:guide id="22" pos="5654" userDrawn="1">
          <p15:clr>
            <a:srgbClr val="F26B43"/>
          </p15:clr>
        </p15:guide>
        <p15:guide id="23" pos="6120" userDrawn="1">
          <p15:clr>
            <a:srgbClr val="F26B43"/>
          </p15:clr>
        </p15:guide>
        <p15:guide id="24" pos="6244" userDrawn="1">
          <p15:clr>
            <a:srgbClr val="F26B43"/>
          </p15:clr>
        </p15:guide>
        <p15:guide id="25" pos="6698" userDrawn="1">
          <p15:clr>
            <a:srgbClr val="F26B43"/>
          </p15:clr>
        </p15:guide>
        <p15:guide id="26" pos="6834" userDrawn="1">
          <p15:clr>
            <a:srgbClr val="F26B43"/>
          </p15:clr>
        </p15:guide>
        <p15:guide id="27" orient="horz" pos="2160" userDrawn="1">
          <p15:clr>
            <a:srgbClr val="F26B43"/>
          </p15:clr>
        </p15:guide>
        <p15:guide id="28" orient="horz" pos="4065" userDrawn="1">
          <p15:clr>
            <a:srgbClr val="F26B43"/>
          </p15:clr>
        </p15:guide>
        <p15:guide id="29" orient="horz" pos="3816" userDrawn="1">
          <p15:clr>
            <a:srgbClr val="F26B43"/>
          </p15:clr>
        </p15:guide>
        <p15:guide id="30" orient="horz" pos="663" userDrawn="1">
          <p15:clr>
            <a:srgbClr val="F26B43"/>
          </p15:clr>
        </p15:guide>
        <p15:guide id="31" orient="horz" pos="550" userDrawn="1">
          <p15:clr>
            <a:srgbClr val="F26B43"/>
          </p15:clr>
        </p15:guide>
        <p15:guide id="32" orient="horz" pos="2341" userDrawn="1">
          <p15:clr>
            <a:srgbClr val="F26B43"/>
          </p15:clr>
        </p15:guide>
        <p15:guide id="33" orient="horz" pos="1888" userDrawn="1">
          <p15:clr>
            <a:srgbClr val="F26B43"/>
          </p15:clr>
        </p15:guide>
        <p15:guide id="34" orient="horz" pos="3680" userDrawn="1">
          <p15:clr>
            <a:srgbClr val="F26B43"/>
          </p15:clr>
        </p15:guide>
        <p15:guide id="35" orient="horz" pos="109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leserlich.info/leserlich-und-lesbar" TargetMode="Externa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Flashing</a:t>
            </a:r>
            <a:r>
              <a:rPr lang="de-DE" dirty="0"/>
              <a:t> RIOT </a:t>
            </a:r>
            <a:r>
              <a:rPr lang="de-DE" dirty="0" err="1"/>
              <a:t>from</a:t>
            </a:r>
            <a:r>
              <a:rPr lang="de-DE" dirty="0"/>
              <a:t> a Browser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Presentation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Fabio </a:t>
            </a:r>
            <a:r>
              <a:rPr lang="de-DE" dirty="0" err="1"/>
              <a:t>Lehmberg</a:t>
            </a:r>
            <a:r>
              <a:rPr lang="de-DE" dirty="0"/>
              <a:t> and Jakob Fregin</a:t>
            </a:r>
          </a:p>
          <a:p>
            <a:r>
              <a:rPr lang="de-DE" dirty="0"/>
              <a:t>Dresden, 26.03.2026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3C57DC0-CDAD-4228-BA26-3D1CE1558B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48245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7D86F-4602-F298-2755-821151000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21257A-F57C-5E85-BD80-66D8B756B9A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2804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9150F-2A8B-139D-D542-F85CDE5D5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7A18229-A82B-F2E0-714C-1B07CE4F8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Vision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5829E70D-E692-8B7D-B18A-735FAF455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open a </a:t>
            </a:r>
            <a:r>
              <a:rPr lang="de-DE" dirty="0" err="1"/>
              <a:t>website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RIOT 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connect and </a:t>
            </a:r>
            <a:r>
              <a:rPr lang="de-DE" dirty="0" err="1"/>
              <a:t>flash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device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setup</a:t>
            </a:r>
            <a:endParaRPr lang="de-DE" dirty="0"/>
          </a:p>
          <a:p>
            <a:pPr marL="576263" lvl="2" indent="-342900"/>
            <a:r>
              <a:rPr lang="de-DE" dirty="0" err="1"/>
              <a:t>toolchain</a:t>
            </a:r>
            <a:endParaRPr lang="de-DE" dirty="0"/>
          </a:p>
          <a:p>
            <a:pPr marL="576263" lvl="2" indent="-342900"/>
            <a:r>
              <a:rPr lang="de-DE" dirty="0"/>
              <a:t>IDE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platform</a:t>
            </a:r>
            <a:r>
              <a:rPr lang="de-DE" dirty="0"/>
              <a:t> </a:t>
            </a:r>
            <a:r>
              <a:rPr lang="de-DE" dirty="0" err="1"/>
              <a:t>dependecy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3410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92CB-C7EF-262A-5EF6-7E5CB243A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917AE-918C-7373-C2B5-56040ED75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3D0CA7-75EC-F8FE-ACEF-FA4993C42C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6145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3201C-6A4C-B11E-5733-32F93DC3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285FD38C-FF4D-0144-80E2-B54A95B0F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D6677DD-065E-D192-3F32-008DCB502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flash</a:t>
            </a:r>
            <a:r>
              <a:rPr lang="de-DE" dirty="0"/>
              <a:t> RIOT </a:t>
            </a:r>
            <a:r>
              <a:rPr lang="de-DE" dirty="0" err="1"/>
              <a:t>boards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a </a:t>
            </a:r>
            <a:r>
              <a:rPr lang="de-DE" dirty="0" err="1"/>
              <a:t>browser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provide</a:t>
            </a:r>
            <a:r>
              <a:rPr lang="de-DE" dirty="0"/>
              <a:t> a code </a:t>
            </a:r>
            <a:r>
              <a:rPr lang="de-DE" dirty="0" err="1"/>
              <a:t>editor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website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ready</a:t>
            </a:r>
            <a:r>
              <a:rPr lang="de-DE" dirty="0"/>
              <a:t>-to-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environment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ease-of-use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newcomers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keep</a:t>
            </a:r>
            <a:r>
              <a:rPr lang="de-DE" dirty="0"/>
              <a:t> to a RIOT native </a:t>
            </a:r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experience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ease-of-deployment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01687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83681-6F0B-EBC7-B9AE-9D191E917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31A7-3924-5349-BF57-AE869D285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to </a:t>
            </a:r>
            <a:r>
              <a:rPr lang="de-DE" dirty="0" err="1"/>
              <a:t>flash</a:t>
            </a:r>
            <a:r>
              <a:rPr lang="de-DE" dirty="0"/>
              <a:t> an MCU </a:t>
            </a:r>
            <a:r>
              <a:rPr lang="de-DE" dirty="0" err="1"/>
              <a:t>from</a:t>
            </a:r>
            <a:r>
              <a:rPr lang="de-DE" dirty="0"/>
              <a:t> a Browser?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C11549-D7DC-D1CD-8928-98B75863B9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080512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46C80-217D-0746-95E3-57579B5D3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AFC245CA-5C22-61A6-D103-115EB5E03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to </a:t>
            </a:r>
            <a:r>
              <a:rPr lang="de-DE" dirty="0" err="1"/>
              <a:t>flash</a:t>
            </a:r>
            <a:r>
              <a:rPr lang="de-DE" dirty="0"/>
              <a:t> an MCU </a:t>
            </a:r>
            <a:r>
              <a:rPr lang="de-DE" dirty="0" err="1"/>
              <a:t>from</a:t>
            </a:r>
            <a:r>
              <a:rPr lang="de-DE" dirty="0"/>
              <a:t> a Browser?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92FCB59-3EE2-E715-CFAB-FC220E0CBD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/>
              <a:t>APIs: </a:t>
            </a:r>
            <a:r>
              <a:rPr lang="de-DE" dirty="0" err="1"/>
              <a:t>WebUSB</a:t>
            </a:r>
            <a:r>
              <a:rPr lang="de-DE" dirty="0"/>
              <a:t>, </a:t>
            </a:r>
            <a:r>
              <a:rPr lang="de-DE" dirty="0" err="1"/>
              <a:t>WebSerial</a:t>
            </a:r>
            <a:r>
              <a:rPr lang="de-DE" dirty="0"/>
              <a:t>, </a:t>
            </a:r>
            <a:r>
              <a:rPr lang="de-DE" dirty="0" err="1"/>
              <a:t>WebHID</a:t>
            </a:r>
            <a:endParaRPr lang="de-DE" dirty="0"/>
          </a:p>
          <a:p>
            <a:pPr marL="576263" lvl="2" indent="-342900"/>
            <a:r>
              <a:rPr lang="de-DE" dirty="0"/>
              <a:t>limited </a:t>
            </a:r>
            <a:r>
              <a:rPr lang="de-DE" dirty="0" err="1"/>
              <a:t>device</a:t>
            </a:r>
            <a:r>
              <a:rPr lang="de-DE" dirty="0"/>
              <a:t> </a:t>
            </a:r>
            <a:r>
              <a:rPr lang="de-DE" dirty="0" err="1"/>
              <a:t>access</a:t>
            </a:r>
            <a:endParaRPr lang="de-DE" dirty="0"/>
          </a:p>
          <a:p>
            <a:pPr marL="576263" lvl="2" indent="-342900"/>
            <a:r>
              <a:rPr lang="de-DE" dirty="0"/>
              <a:t>support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chromium-based</a:t>
            </a:r>
            <a:r>
              <a:rPr lang="de-DE" dirty="0"/>
              <a:t> </a:t>
            </a:r>
            <a:r>
              <a:rPr lang="de-DE" dirty="0" err="1"/>
              <a:t>browsers</a:t>
            </a:r>
            <a:r>
              <a:rPr lang="de-DE" dirty="0"/>
              <a:t> </a:t>
            </a:r>
            <a:r>
              <a:rPr lang="de-DE" dirty="0" err="1"/>
              <a:t>only</a:t>
            </a:r>
            <a:endParaRPr lang="de-DE" dirty="0"/>
          </a:p>
          <a:p>
            <a:pPr marL="576263" lvl="2" indent="-342900"/>
            <a:r>
              <a:rPr lang="de-DE" dirty="0" err="1"/>
              <a:t>serial</a:t>
            </a:r>
            <a:r>
              <a:rPr lang="de-DE" dirty="0"/>
              <a:t> </a:t>
            </a:r>
            <a:r>
              <a:rPr lang="de-DE" dirty="0" err="1"/>
              <a:t>flashing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most</a:t>
            </a:r>
            <a:r>
              <a:rPr lang="de-DE" dirty="0"/>
              <a:t> </a:t>
            </a:r>
            <a:r>
              <a:rPr lang="de-DE" dirty="0" err="1"/>
              <a:t>common</a:t>
            </a:r>
            <a:endParaRPr lang="de-DE" dirty="0"/>
          </a:p>
          <a:p>
            <a:pPr marL="576263" lvl="2" indent="-342900"/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flashing</a:t>
            </a:r>
            <a:r>
              <a:rPr lang="de-DE" dirty="0"/>
              <a:t> a </a:t>
            </a:r>
            <a:r>
              <a:rPr lang="de-DE" dirty="0" err="1"/>
              <a:t>device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WebSerial</a:t>
            </a:r>
            <a:endParaRPr lang="de-DE" dirty="0"/>
          </a:p>
          <a:p>
            <a:pPr marL="576263" lvl="2" indent="-342900"/>
            <a:r>
              <a:rPr lang="de-DE" dirty="0"/>
              <a:t>still </a:t>
            </a:r>
            <a:r>
              <a:rPr lang="de-DE" dirty="0" err="1"/>
              <a:t>requires</a:t>
            </a:r>
            <a:r>
              <a:rPr lang="de-DE" dirty="0"/>
              <a:t> </a:t>
            </a:r>
            <a:r>
              <a:rPr lang="de-DE" dirty="0" err="1"/>
              <a:t>flasher</a:t>
            </a:r>
            <a:r>
              <a:rPr lang="de-DE" dirty="0"/>
              <a:t> </a:t>
            </a:r>
            <a:r>
              <a:rPr lang="de-DE" dirty="0" err="1"/>
              <a:t>logic</a:t>
            </a:r>
            <a:r>
              <a:rPr lang="de-DE" dirty="0"/>
              <a:t> in </a:t>
            </a:r>
            <a:r>
              <a:rPr lang="de-DE" dirty="0" err="1"/>
              <a:t>js</a:t>
            </a:r>
            <a:endParaRPr lang="de-DE" dirty="0"/>
          </a:p>
          <a:p>
            <a:pPr marL="576263" lvl="2" indent="-342900"/>
            <a:r>
              <a:rPr lang="de-DE" dirty="0" err="1"/>
              <a:t>device</a:t>
            </a:r>
            <a:r>
              <a:rPr lang="de-DE" dirty="0"/>
              <a:t> </a:t>
            </a:r>
            <a:r>
              <a:rPr lang="de-DE" dirty="0" err="1"/>
              <a:t>dependend</a:t>
            </a:r>
            <a:r>
              <a:rPr lang="de-DE" dirty="0"/>
              <a:t> </a:t>
            </a:r>
          </a:p>
          <a:p>
            <a:pPr marL="576263" lvl="2" indent="-342900"/>
            <a:r>
              <a:rPr lang="de-DE" dirty="0" err="1"/>
              <a:t>implementing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own </a:t>
            </a:r>
            <a:r>
              <a:rPr lang="de-DE" dirty="0" err="1"/>
              <a:t>flasher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trivial</a:t>
            </a:r>
          </a:p>
        </p:txBody>
      </p:sp>
    </p:spTree>
    <p:extLst>
      <p:ext uri="{BB962C8B-B14F-4D97-AF65-F5344CB8AC3E}">
        <p14:creationId xmlns:p14="http://schemas.microsoft.com/office/powerpoint/2010/main" val="11866474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FA887-101E-1903-8C8E-185075E8D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2C61BD-19AD-97E7-186C-553E1B4019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web </a:t>
            </a:r>
            <a:r>
              <a:rPr lang="de-DE" dirty="0" err="1"/>
              <a:t>hosted</a:t>
            </a:r>
            <a:r>
              <a:rPr lang="de-DE" dirty="0"/>
              <a:t> code </a:t>
            </a:r>
            <a:r>
              <a:rPr lang="de-DE" dirty="0" err="1"/>
              <a:t>editors</a:t>
            </a:r>
            <a:r>
              <a:rPr lang="de-DE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96CF74-2B4C-E30F-2635-21CBA991959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77408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DE9C2-3D4E-01DB-78DF-543954C2A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FE7700CB-2A92-4BD9-45EC-8B2884F26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web </a:t>
            </a:r>
            <a:r>
              <a:rPr lang="de-DE" dirty="0" err="1"/>
              <a:t>hosted</a:t>
            </a:r>
            <a:r>
              <a:rPr lang="de-DE" dirty="0"/>
              <a:t> code </a:t>
            </a:r>
            <a:r>
              <a:rPr lang="de-DE" dirty="0" err="1"/>
              <a:t>editors</a:t>
            </a:r>
            <a:r>
              <a:rPr lang="de-DE" dirty="0"/>
              <a:t>?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84EB908C-45A1-6AC1-F1F1-22A84F3095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coder</a:t>
            </a:r>
            <a:r>
              <a:rPr lang="de-DE" dirty="0"/>
              <a:t>/code-server:</a:t>
            </a:r>
          </a:p>
          <a:p>
            <a:pPr marL="576263" lvl="2" indent="-342900"/>
            <a:r>
              <a:rPr lang="de-DE" dirty="0"/>
              <a:t>Monaco style </a:t>
            </a:r>
            <a:r>
              <a:rPr lang="de-DE" dirty="0" err="1"/>
              <a:t>editor</a:t>
            </a:r>
            <a:r>
              <a:rPr lang="de-DE" dirty="0"/>
              <a:t> (</a:t>
            </a:r>
            <a:r>
              <a:rPr lang="de-DE" dirty="0" err="1"/>
              <a:t>VSCode</a:t>
            </a:r>
            <a:r>
              <a:rPr lang="de-DE" dirty="0"/>
              <a:t>)</a:t>
            </a:r>
          </a:p>
          <a:p>
            <a:pPr marL="576263" lvl="2" indent="-342900"/>
            <a:r>
              <a:rPr lang="de-DE" dirty="0" err="1"/>
              <a:t>familiarity</a:t>
            </a:r>
            <a:endParaRPr lang="de-DE" dirty="0"/>
          </a:p>
          <a:p>
            <a:pPr marL="576263" lvl="2" indent="-342900"/>
            <a:r>
              <a:rPr lang="de-DE" dirty="0" err="1"/>
              <a:t>extension</a:t>
            </a:r>
            <a:r>
              <a:rPr lang="de-DE" dirty="0"/>
              <a:t> support</a:t>
            </a:r>
          </a:p>
          <a:p>
            <a:pPr marL="576263" lvl="2" indent="-342900"/>
            <a:r>
              <a:rPr lang="de-DE" dirty="0"/>
              <a:t>flexible </a:t>
            </a:r>
            <a:r>
              <a:rPr lang="de-DE" dirty="0" err="1"/>
              <a:t>deployment</a:t>
            </a:r>
            <a:endParaRPr lang="de-DE" dirty="0"/>
          </a:p>
          <a:p>
            <a:pPr marL="342900" lvl="1" indent="-342900">
              <a:buFont typeface="Arial" panose="020B0604020202020204" pitchFamily="34" charset="0"/>
              <a:buChar char="•"/>
            </a:pPr>
            <a:r>
              <a:rPr lang="de-DE" dirty="0" err="1"/>
              <a:t>idea</a:t>
            </a:r>
            <a:r>
              <a:rPr lang="de-DE" dirty="0"/>
              <a:t>: </a:t>
            </a:r>
            <a:r>
              <a:rPr lang="de-DE" dirty="0" err="1"/>
              <a:t>vscode</a:t>
            </a:r>
            <a:r>
              <a:rPr lang="de-DE" dirty="0"/>
              <a:t>-extension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flashing</a:t>
            </a:r>
            <a:r>
              <a:rPr lang="de-DE" dirty="0"/>
              <a:t> </a:t>
            </a:r>
            <a:r>
              <a:rPr lang="de-DE" dirty="0" err="1"/>
              <a:t>devices</a:t>
            </a:r>
            <a:endParaRPr lang="de-DE" dirty="0"/>
          </a:p>
          <a:p>
            <a:pPr marL="576263" lvl="2" indent="-342900"/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deployed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dev</a:t>
            </a:r>
            <a:r>
              <a:rPr lang="de-DE" dirty="0"/>
              <a:t> </a:t>
            </a:r>
            <a:r>
              <a:rPr lang="de-DE" dirty="0" err="1"/>
              <a:t>env</a:t>
            </a:r>
            <a:endParaRPr lang="de-DE" dirty="0"/>
          </a:p>
          <a:p>
            <a:pPr marL="576263" lvl="2" indent="-342900"/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editor-</a:t>
            </a:r>
            <a:r>
              <a:rPr lang="de-DE" dirty="0" err="1"/>
              <a:t>integrated</a:t>
            </a:r>
            <a:r>
              <a:rPr lang="de-DE" dirty="0"/>
              <a:t> </a:t>
            </a:r>
            <a:r>
              <a:rPr lang="de-DE" dirty="0" err="1"/>
              <a:t>management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devices</a:t>
            </a:r>
            <a:endParaRPr lang="de-DE" dirty="0"/>
          </a:p>
          <a:p>
            <a:pPr marL="576263" lvl="2" indent="-342900"/>
            <a:r>
              <a:rPr lang="de-DE" dirty="0" err="1"/>
              <a:t>automatically</a:t>
            </a:r>
            <a:r>
              <a:rPr lang="de-DE" dirty="0"/>
              <a:t> </a:t>
            </a:r>
            <a:r>
              <a:rPr lang="de-DE" dirty="0" err="1"/>
              <a:t>flashes</a:t>
            </a:r>
            <a:r>
              <a:rPr lang="de-DE" dirty="0"/>
              <a:t> </a:t>
            </a:r>
            <a:r>
              <a:rPr lang="de-DE" dirty="0" err="1"/>
              <a:t>binaries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</a:t>
            </a:r>
            <a:r>
              <a:rPr lang="de-DE" dirty="0" err="1"/>
              <a:t>built</a:t>
            </a:r>
            <a:r>
              <a:rPr lang="de-DE" dirty="0"/>
              <a:t> code</a:t>
            </a:r>
          </a:p>
          <a:p>
            <a:pPr marL="800100" lvl="3" indent="-34290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97667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C0723-B94C-6FF0-D1EC-680ED3842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7F865-E5C7-CCF0-EBC6-ED2821EA6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Backend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4085B9-1FC8-A1D9-2028-802E0DB2C7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564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BE7ED-F68D-B480-5C5D-34BD7F0E6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5DD65EBB-357E-C690-09FC-4EBF4E134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Goals </a:t>
            </a:r>
            <a:r>
              <a:rPr lang="de-DE" dirty="0" err="1"/>
              <a:t>Reminder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651C2A1-7C5A-D2D9-C8FB-F34574E0A6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provide</a:t>
            </a:r>
            <a:r>
              <a:rPr lang="de-DE" dirty="0"/>
              <a:t> a code </a:t>
            </a:r>
            <a:r>
              <a:rPr lang="de-DE" dirty="0" err="1"/>
              <a:t>editor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a </a:t>
            </a:r>
            <a:r>
              <a:rPr lang="de-DE" dirty="0" err="1"/>
              <a:t>website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ready</a:t>
            </a:r>
            <a:r>
              <a:rPr lang="de-DE" dirty="0"/>
              <a:t>-to-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environment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keep</a:t>
            </a:r>
            <a:r>
              <a:rPr lang="de-DE" dirty="0"/>
              <a:t> to a RIOT native </a:t>
            </a:r>
            <a:r>
              <a:rPr lang="de-DE" dirty="0" err="1"/>
              <a:t>user</a:t>
            </a:r>
            <a:r>
              <a:rPr lang="de-DE" dirty="0"/>
              <a:t> </a:t>
            </a:r>
            <a:r>
              <a:rPr lang="de-DE" dirty="0" err="1"/>
              <a:t>experience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/>
              <a:t>ease-of-deployment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>
                <a:solidFill>
                  <a:schemeClr val="bg1">
                    <a:lumMod val="75000"/>
                  </a:schemeClr>
                </a:solidFill>
              </a:rPr>
              <a:t>flash</a:t>
            </a:r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 RIOT </a:t>
            </a:r>
            <a:r>
              <a:rPr lang="de-DE" dirty="0" err="1">
                <a:solidFill>
                  <a:schemeClr val="bg1">
                    <a:lumMod val="75000"/>
                  </a:schemeClr>
                </a:solidFill>
              </a:rPr>
              <a:t>boards</a:t>
            </a:r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bg1">
                    <a:lumMod val="75000"/>
                  </a:schemeClr>
                </a:solidFill>
              </a:rPr>
              <a:t>from</a:t>
            </a:r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 a </a:t>
            </a:r>
            <a:r>
              <a:rPr lang="de-DE" dirty="0" err="1">
                <a:solidFill>
                  <a:schemeClr val="bg1">
                    <a:lumMod val="75000"/>
                  </a:schemeClr>
                </a:solidFill>
              </a:rPr>
              <a:t>browser</a:t>
            </a:r>
            <a:endParaRPr lang="de-DE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dirty="0" err="1">
                <a:solidFill>
                  <a:schemeClr val="bg1">
                    <a:lumMod val="75000"/>
                  </a:schemeClr>
                </a:solidFill>
              </a:rPr>
              <a:t>ease-of-use</a:t>
            </a:r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bg1">
                    <a:lumMod val="75000"/>
                  </a:schemeClr>
                </a:solidFill>
              </a:rPr>
              <a:t>for</a:t>
            </a:r>
            <a:r>
              <a:rPr lang="de-DE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de-DE" dirty="0" err="1">
                <a:solidFill>
                  <a:schemeClr val="bg1">
                    <a:lumMod val="75000"/>
                  </a:schemeClr>
                </a:solidFill>
              </a:rPr>
              <a:t>newcomers</a:t>
            </a:r>
            <a:endParaRPr lang="de-DE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87818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BA7F4C-F7C8-AA09-51B9-5D54DCB9ADB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ECBE123B-3CCE-E13C-BB83-E41E63771D97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prstGeom prst="rect">
            <a:avLst/>
          </a:prstGeom>
          <a:solidFill>
            <a:prstClr val="white">
              <a:lumMod val="95000"/>
            </a:prstClr>
          </a:solidFill>
        </p:spPr>
      </p:pic>
    </p:spTree>
    <p:extLst>
      <p:ext uri="{BB962C8B-B14F-4D97-AF65-F5344CB8AC3E}">
        <p14:creationId xmlns:p14="http://schemas.microsoft.com/office/powerpoint/2010/main" val="2237056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C90E2-488C-BA8F-94CC-2952B2C88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7C843-0D8B-61F7-B028-BC4D64B1C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EA062A-C806-F1F4-5C98-E366AA036A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650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9038B-C91D-D4AF-DD0F-B3F7C00F4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6FCC718B-6284-F37C-466B-8AC7F1B1C93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7368" b="-17368"/>
          <a:stretch>
            <a:fillRect/>
          </a:stretch>
        </p:blipFill>
        <p:spPr>
          <a:prstGeom prst="rect">
            <a:avLst/>
          </a:prstGeom>
          <a:solidFill>
            <a:prstClr val="white">
              <a:lumMod val="95000"/>
            </a:prstClr>
          </a:solidFill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D10C92-0301-EC89-9896-48567ACC9C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de-DE" dirty="0"/>
              <a:t>RIOT Web Editor Architecture</a:t>
            </a:r>
          </a:p>
        </p:txBody>
      </p:sp>
    </p:spTree>
    <p:extLst>
      <p:ext uri="{BB962C8B-B14F-4D97-AF65-F5344CB8AC3E}">
        <p14:creationId xmlns:p14="http://schemas.microsoft.com/office/powerpoint/2010/main" val="579415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25E2F-30BF-7701-343D-87A1AEF06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A3F5A-D0BD-5403-2171-3C9B81234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But </a:t>
            </a:r>
            <a:r>
              <a:rPr lang="de-DE" dirty="0" err="1"/>
              <a:t>Why</a:t>
            </a:r>
            <a:r>
              <a:rPr lang="de-DE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8C5A7-9946-B933-6F1D-8AC933036DB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336508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48AC3-2857-882B-1232-0E30AA352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89BEF7AB-54A1-F8C3-DF97-0A93165F2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355E4097-DD01-ADF6-F7B1-38A326785A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6101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D9C06D64-1A6C-4083-825A-6939C3E97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Hinweise zur Nutzung der Layouts</a:t>
            </a:r>
            <a:endParaRPr lang="en-US" dirty="0"/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6B6F4D4-0AF8-493D-AE50-AEF77EDFB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Es stehen verschiedene Titel-, Abschnitts- und Inhaltsfolien-Layouts zur Auswahl (Rechtsklick auf eine Folie in der Übersicht &gt; Layout &gt; Layout auswählen.</a:t>
            </a:r>
          </a:p>
          <a:p>
            <a:r>
              <a:rPr lang="de-DE" dirty="0"/>
              <a:t>Die Farbflächen der Folien können (ausschließlich) in den CD-Farben eingefärbt werden, siehe Folie 4. Achten Sie auf ausreichenden Kontrast der Hintergrundfarbe zur Schrift.</a:t>
            </a:r>
          </a:p>
          <a:p>
            <a:r>
              <a:rPr lang="de-DE" dirty="0"/>
              <a:t>Von den Titelfolien gibt es 2 Typen:</a:t>
            </a:r>
          </a:p>
          <a:p>
            <a:pPr marL="342900" indent="-342900">
              <a:buFontTx/>
              <a:buChar char="-"/>
            </a:pPr>
            <a:r>
              <a:rPr lang="de-DE" dirty="0"/>
              <a:t>Titelfolien „</a:t>
            </a:r>
            <a:r>
              <a:rPr lang="de-DE" dirty="0" err="1"/>
              <a:t>Shape_fix</a:t>
            </a:r>
            <a:r>
              <a:rPr lang="de-DE" dirty="0"/>
              <a:t>“ mit auf Folienformat beschnittenen Farbflächen. Hier können die Farbflächen nicht verschoben werden.</a:t>
            </a:r>
          </a:p>
          <a:p>
            <a:pPr marL="342900" indent="-342900">
              <a:buFontTx/>
              <a:buChar char="-"/>
            </a:pPr>
            <a:r>
              <a:rPr lang="de-DE" dirty="0"/>
              <a:t>„Titelfolien „</a:t>
            </a:r>
            <a:r>
              <a:rPr lang="de-DE" dirty="0" err="1"/>
              <a:t>Shape_variabel</a:t>
            </a:r>
            <a:r>
              <a:rPr lang="de-DE" dirty="0"/>
              <a:t>“ mit den unbeschnittenen Shapes. Diese können frei im Folienformat verschoben werden, um z. B. bestimmten Textanordnungen gerecht zu werden.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87260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el 18">
            <a:extLst>
              <a:ext uri="{FF2B5EF4-FFF2-40B4-BE49-F238E27FC236}">
                <a16:creationId xmlns:a16="http://schemas.microsoft.com/office/drawing/2014/main" id="{D9C06D64-1A6C-4083-825A-6939C3E97F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404813"/>
            <a:ext cx="10972800" cy="647700"/>
          </a:xfrm>
          <a:noFill/>
        </p:spPr>
        <p:txBody>
          <a:bodyPr/>
          <a:lstStyle/>
          <a:p>
            <a:r>
              <a:rPr lang="de-DE" dirty="0"/>
              <a:t>Titel Schriftgröße 32 </a:t>
            </a:r>
            <a:r>
              <a:rPr lang="de-DE" dirty="0" err="1"/>
              <a:t>pt</a:t>
            </a:r>
            <a:endParaRPr lang="en-US" dirty="0"/>
          </a:p>
        </p:txBody>
      </p:sp>
      <p:sp>
        <p:nvSpPr>
          <p:cNvPr id="20" name="Inhaltsplatzhalter 19">
            <a:extLst>
              <a:ext uri="{FF2B5EF4-FFF2-40B4-BE49-F238E27FC236}">
                <a16:creationId xmlns:a16="http://schemas.microsoft.com/office/drawing/2014/main" id="{B6B6F4D4-0AF8-493D-AE50-AEF77EDFBC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1736725"/>
            <a:ext cx="10972801" cy="4105275"/>
          </a:xfrm>
        </p:spPr>
        <p:txBody>
          <a:bodyPr/>
          <a:lstStyle/>
          <a:p>
            <a:r>
              <a:rPr lang="de-DE" dirty="0"/>
              <a:t>Mastertext Inhalt – Schriftgröße 20 </a:t>
            </a:r>
            <a:r>
              <a:rPr lang="de-DE" dirty="0" err="1"/>
              <a:t>pt</a:t>
            </a:r>
            <a:endParaRPr lang="de-DE" dirty="0"/>
          </a:p>
          <a:p>
            <a:r>
              <a:rPr lang="de-DE" dirty="0"/>
              <a:t>getestet in folgenden Settings (Lesedistanz erste bis letzte Reihe):</a:t>
            </a:r>
          </a:p>
          <a:p>
            <a:pPr lvl="2"/>
            <a:r>
              <a:rPr lang="de-DE" dirty="0"/>
              <a:t>HSZ Audimax </a:t>
            </a:r>
          </a:p>
          <a:p>
            <a:pPr lvl="2"/>
            <a:r>
              <a:rPr lang="de-DE" dirty="0"/>
              <a:t>HSZ Hörsaal 03</a:t>
            </a:r>
          </a:p>
          <a:p>
            <a:pPr lvl="2"/>
            <a:r>
              <a:rPr lang="de-DE" dirty="0"/>
              <a:t>HSZ Seminarraum E01</a:t>
            </a:r>
          </a:p>
          <a:p>
            <a:r>
              <a:rPr lang="de-DE" dirty="0"/>
              <a:t>Schriftgröße kann nach bedarf angepasst werden auf Werte zwischen 16pt und 24pt.</a:t>
            </a:r>
          </a:p>
          <a:p>
            <a:r>
              <a:rPr lang="de-DE" dirty="0"/>
              <a:t>Normaler Lesetext (vgl. </a:t>
            </a:r>
            <a:r>
              <a:rPr lang="de-DE" dirty="0">
                <a:hlinkClick r:id="rId2"/>
              </a:rPr>
              <a:t>https://leserlich.info/leserlich-und-lesbar</a:t>
            </a:r>
            <a:r>
              <a:rPr lang="de-DE" dirty="0"/>
              <a:t>) </a:t>
            </a:r>
            <a:br>
              <a:rPr lang="de-DE" dirty="0"/>
            </a:br>
            <a:r>
              <a:rPr lang="de-DE" dirty="0"/>
              <a:t>sollte i.d.R. nicht kleiner als 16 </a:t>
            </a:r>
            <a:r>
              <a:rPr lang="de-DE" dirty="0" err="1"/>
              <a:t>pt</a:t>
            </a:r>
            <a:r>
              <a:rPr lang="de-DE" dirty="0"/>
              <a:t> sein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34623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63E8F6C8-3424-434A-977D-2E381AC65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TUD Farben</a:t>
            </a:r>
            <a:endParaRPr lang="en-US" dirty="0"/>
          </a:p>
        </p:txBody>
      </p: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E5D52C39-7129-4BAC-83B2-BC7CC36C7900}"/>
              </a:ext>
            </a:extLst>
          </p:cNvPr>
          <p:cNvGrpSpPr/>
          <p:nvPr/>
        </p:nvGrpSpPr>
        <p:grpSpPr>
          <a:xfrm>
            <a:off x="609600" y="3152775"/>
            <a:ext cx="11439525" cy="1106488"/>
            <a:chOff x="609600" y="2609850"/>
            <a:chExt cx="11439525" cy="1106488"/>
          </a:xfrm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1FC3AD65-8337-40EA-88E3-B0A8EEB820D4}"/>
                </a:ext>
              </a:extLst>
            </p:cNvPr>
            <p:cNvSpPr/>
            <p:nvPr/>
          </p:nvSpPr>
          <p:spPr>
            <a:xfrm>
              <a:off x="609600" y="2609850"/>
              <a:ext cx="733425" cy="381000"/>
            </a:xfrm>
            <a:prstGeom prst="rect">
              <a:avLst/>
            </a:prstGeom>
            <a:solidFill>
              <a:srgbClr val="2F57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FE25C7C2-63CE-47E9-A199-B615234159FA}"/>
                </a:ext>
              </a:extLst>
            </p:cNvPr>
            <p:cNvSpPr/>
            <p:nvPr/>
          </p:nvSpPr>
          <p:spPr>
            <a:xfrm>
              <a:off x="1889522" y="2609850"/>
              <a:ext cx="733425" cy="381000"/>
            </a:xfrm>
            <a:prstGeom prst="rect">
              <a:avLst/>
            </a:prstGeom>
            <a:solidFill>
              <a:srgbClr val="7369B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AFD7EEEF-4DC0-46B5-9B4F-E8AED738FCA3}"/>
                </a:ext>
              </a:extLst>
            </p:cNvPr>
            <p:cNvSpPr/>
            <p:nvPr/>
          </p:nvSpPr>
          <p:spPr>
            <a:xfrm>
              <a:off x="3169444" y="2609850"/>
              <a:ext cx="733425" cy="381000"/>
            </a:xfrm>
            <a:prstGeom prst="rect">
              <a:avLst/>
            </a:prstGeom>
            <a:solidFill>
              <a:srgbClr val="BC158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459AE714-FBEC-4415-8E6C-E4B3ADE523E9}"/>
                </a:ext>
              </a:extLst>
            </p:cNvPr>
            <p:cNvSpPr/>
            <p:nvPr/>
          </p:nvSpPr>
          <p:spPr>
            <a:xfrm>
              <a:off x="4449366" y="2609850"/>
              <a:ext cx="733425" cy="381000"/>
            </a:xfrm>
            <a:prstGeom prst="rect">
              <a:avLst/>
            </a:prstGeom>
            <a:solidFill>
              <a:srgbClr val="D20F4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BA3EF785-ECD3-4474-B482-2F3805D7C1A5}"/>
                </a:ext>
              </a:extLst>
            </p:cNvPr>
            <p:cNvSpPr/>
            <p:nvPr/>
          </p:nvSpPr>
          <p:spPr>
            <a:xfrm>
              <a:off x="5729288" y="2609850"/>
              <a:ext cx="733425" cy="381000"/>
            </a:xfrm>
            <a:prstGeom prst="rect">
              <a:avLst/>
            </a:prstGeom>
            <a:solidFill>
              <a:srgbClr val="C85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84ECD5B7-3900-4884-A382-8DEB480B10F1}"/>
                </a:ext>
              </a:extLst>
            </p:cNvPr>
            <p:cNvSpPr/>
            <p:nvPr/>
          </p:nvSpPr>
          <p:spPr>
            <a:xfrm>
              <a:off x="7009210" y="2609850"/>
              <a:ext cx="733425" cy="381000"/>
            </a:xfrm>
            <a:prstGeom prst="rect">
              <a:avLst/>
            </a:prstGeom>
            <a:solidFill>
              <a:srgbClr val="FFC7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3DB30718-7156-48F7-887E-E8CC188CFDA7}"/>
                </a:ext>
              </a:extLst>
            </p:cNvPr>
            <p:cNvSpPr/>
            <p:nvPr/>
          </p:nvSpPr>
          <p:spPr>
            <a:xfrm>
              <a:off x="8289132" y="2609850"/>
              <a:ext cx="733425" cy="381000"/>
            </a:xfrm>
            <a:prstGeom prst="rect">
              <a:avLst/>
            </a:prstGeom>
            <a:solidFill>
              <a:srgbClr val="767A2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D120921B-0757-4264-BF3D-1E5FDDD63614}"/>
                </a:ext>
              </a:extLst>
            </p:cNvPr>
            <p:cNvSpPr/>
            <p:nvPr/>
          </p:nvSpPr>
          <p:spPr>
            <a:xfrm>
              <a:off x="9569054" y="2609850"/>
              <a:ext cx="733425" cy="381000"/>
            </a:xfrm>
            <a:prstGeom prst="rect">
              <a:avLst/>
            </a:prstGeom>
            <a:solidFill>
              <a:srgbClr val="007D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25DFB171-B7F2-4262-A1ED-1DFEA8A78F62}"/>
                </a:ext>
              </a:extLst>
            </p:cNvPr>
            <p:cNvSpPr/>
            <p:nvPr/>
          </p:nvSpPr>
          <p:spPr>
            <a:xfrm>
              <a:off x="10848975" y="2609850"/>
              <a:ext cx="733425" cy="381000"/>
            </a:xfrm>
            <a:prstGeom prst="rect">
              <a:avLst/>
            </a:prstGeom>
            <a:solidFill>
              <a:srgbClr val="0A77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feld 44">
              <a:extLst>
                <a:ext uri="{FF2B5EF4-FFF2-40B4-BE49-F238E27FC236}">
                  <a16:creationId xmlns:a16="http://schemas.microsoft.com/office/drawing/2014/main" id="{A0B61FC9-92DE-4BF9-8408-FD004145574F}"/>
                </a:ext>
              </a:extLst>
            </p:cNvPr>
            <p:cNvSpPr txBox="1"/>
            <p:nvPr/>
          </p:nvSpPr>
          <p:spPr>
            <a:xfrm>
              <a:off x="609600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en-US" sz="800" dirty="0" err="1"/>
                <a:t>Blau</a:t>
              </a:r>
              <a:r>
                <a:rPr lang="en-US" sz="800" dirty="0"/>
                <a:t>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#2F57B2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47 / 87 / 178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90 / 50 / 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3050-R90B</a:t>
              </a: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B54B16F4-BD41-4EE8-B67B-79B4C18725B2}"/>
                </a:ext>
              </a:extLst>
            </p:cNvPr>
            <p:cNvSpPr txBox="1"/>
            <p:nvPr/>
          </p:nvSpPr>
          <p:spPr>
            <a:xfrm>
              <a:off x="1889522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Violett</a:t>
              </a:r>
              <a:r>
                <a:rPr lang="en-US" sz="800" dirty="0"/>
                <a:t>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#7369BE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115 / 105 / 190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64 / 62 / 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2050-R60B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97172466-33ED-4CC1-92DE-5502E8AB8393}"/>
                </a:ext>
              </a:extLst>
            </p:cNvPr>
            <p:cNvSpPr txBox="1"/>
            <p:nvPr/>
          </p:nvSpPr>
          <p:spPr>
            <a:xfrm>
              <a:off x="3169444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/>
                <a:t>Magenta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#BC1589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188 / 21 / 137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30 / 96 / 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2060-R40B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DEE3163C-D613-4E28-9A9C-09979C7175C2}"/>
                </a:ext>
              </a:extLst>
            </p:cNvPr>
            <p:cNvSpPr txBox="1"/>
            <p:nvPr/>
          </p:nvSpPr>
          <p:spPr>
            <a:xfrm>
              <a:off x="4449366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nn-NO" sz="800" dirty="0"/>
                <a:t>Rot 1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Hex	#D20F41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RGB	210 / 15 / 65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CMYK	0 / 100 / 60 / 0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NCS	1080-R</a:t>
              </a:r>
              <a:endParaRPr lang="en-US" sz="800" dirty="0"/>
            </a:p>
          </p:txBody>
        </p:sp>
        <p:sp>
          <p:nvSpPr>
            <p:cNvPr id="49" name="Textfeld 48">
              <a:extLst>
                <a:ext uri="{FF2B5EF4-FFF2-40B4-BE49-F238E27FC236}">
                  <a16:creationId xmlns:a16="http://schemas.microsoft.com/office/drawing/2014/main" id="{8ADAC513-C015-41BE-8F24-4F71D1D97649}"/>
                </a:ext>
              </a:extLst>
            </p:cNvPr>
            <p:cNvSpPr txBox="1"/>
            <p:nvPr/>
          </p:nvSpPr>
          <p:spPr>
            <a:xfrm>
              <a:off x="5729288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/>
                <a:t>Orange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#C85000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200 / 80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0 / 90 / 100 / 20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2075-Y70R</a:t>
              </a:r>
            </a:p>
          </p:txBody>
        </p:sp>
        <p:sp>
          <p:nvSpPr>
            <p:cNvPr id="50" name="Textfeld 49">
              <a:extLst>
                <a:ext uri="{FF2B5EF4-FFF2-40B4-BE49-F238E27FC236}">
                  <a16:creationId xmlns:a16="http://schemas.microsoft.com/office/drawing/2014/main" id="{7A3F46FD-A442-404E-9C2C-744A39C9E27F}"/>
                </a:ext>
              </a:extLst>
            </p:cNvPr>
            <p:cNvSpPr txBox="1"/>
            <p:nvPr/>
          </p:nvSpPr>
          <p:spPr>
            <a:xfrm>
              <a:off x="7009210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/>
                <a:t>Gelb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#FFC700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255 / 199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0 / 25 / 100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0580-Y10R</a:t>
              </a:r>
            </a:p>
          </p:txBody>
        </p:sp>
        <p:sp>
          <p:nvSpPr>
            <p:cNvPr id="51" name="Textfeld 50">
              <a:extLst>
                <a:ext uri="{FF2B5EF4-FFF2-40B4-BE49-F238E27FC236}">
                  <a16:creationId xmlns:a16="http://schemas.microsoft.com/office/drawing/2014/main" id="{E249D392-89A6-4E56-B61E-6A07B539BA89}"/>
                </a:ext>
              </a:extLst>
            </p:cNvPr>
            <p:cNvSpPr txBox="1"/>
            <p:nvPr/>
          </p:nvSpPr>
          <p:spPr>
            <a:xfrm>
              <a:off x="8289132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Oliv</a:t>
              </a:r>
              <a:r>
                <a:rPr lang="en-US" sz="800" dirty="0"/>
                <a:t>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#767A23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118 / 122 / 35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50 / 35 / 100 / 22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4040-G80Y</a:t>
              </a:r>
            </a:p>
          </p:txBody>
        </p: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D1588A47-C981-46CA-9716-0258B0E95FBD}"/>
                </a:ext>
              </a:extLst>
            </p:cNvPr>
            <p:cNvSpPr txBox="1"/>
            <p:nvPr/>
          </p:nvSpPr>
          <p:spPr>
            <a:xfrm>
              <a:off x="9569054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Grün</a:t>
              </a:r>
              <a:r>
                <a:rPr lang="en-US" sz="800" dirty="0"/>
                <a:t>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#007D4B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0 / 125 / 75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90 / 0 / 80 / 15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3050-G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17B21D9B-AEC8-4E96-8A67-3F7A3E453047}"/>
                </a:ext>
              </a:extLst>
            </p:cNvPr>
            <p:cNvSpPr txBox="1"/>
            <p:nvPr/>
          </p:nvSpPr>
          <p:spPr>
            <a:xfrm>
              <a:off x="10848975" y="310078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Türkis</a:t>
              </a:r>
              <a:r>
                <a:rPr lang="en-US" sz="800" dirty="0"/>
                <a:t> 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#0A777F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10 / 119 / 127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100 / 10 / 30 / 40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3060-B10G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0D2C28E4-D483-4DB7-9ED4-146FA2DA7A26}"/>
              </a:ext>
            </a:extLst>
          </p:cNvPr>
          <p:cNvGrpSpPr/>
          <p:nvPr/>
        </p:nvGrpSpPr>
        <p:grpSpPr>
          <a:xfrm>
            <a:off x="596900" y="4681538"/>
            <a:ext cx="11452225" cy="1120775"/>
            <a:chOff x="596900" y="4138613"/>
            <a:chExt cx="11452225" cy="1120775"/>
          </a:xfrm>
        </p:grpSpPr>
        <p:sp>
          <p:nvSpPr>
            <p:cNvPr id="19" name="Rechteck 18">
              <a:extLst>
                <a:ext uri="{FF2B5EF4-FFF2-40B4-BE49-F238E27FC236}">
                  <a16:creationId xmlns:a16="http://schemas.microsoft.com/office/drawing/2014/main" id="{C03525DC-6B00-499C-A028-67779E2A1795}"/>
                </a:ext>
              </a:extLst>
            </p:cNvPr>
            <p:cNvSpPr/>
            <p:nvPr/>
          </p:nvSpPr>
          <p:spPr>
            <a:xfrm>
              <a:off x="596900" y="4138613"/>
              <a:ext cx="733425" cy="381000"/>
            </a:xfrm>
            <a:prstGeom prst="rect">
              <a:avLst/>
            </a:prstGeom>
            <a:solidFill>
              <a:srgbClr val="97C6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hteck 19">
              <a:extLst>
                <a:ext uri="{FF2B5EF4-FFF2-40B4-BE49-F238E27FC236}">
                  <a16:creationId xmlns:a16="http://schemas.microsoft.com/office/drawing/2014/main" id="{7AD4994E-0655-4410-90DA-75EB1594F8A6}"/>
                </a:ext>
              </a:extLst>
            </p:cNvPr>
            <p:cNvSpPr/>
            <p:nvPr/>
          </p:nvSpPr>
          <p:spPr>
            <a:xfrm>
              <a:off x="1878409" y="4138613"/>
              <a:ext cx="733425" cy="381000"/>
            </a:xfrm>
            <a:prstGeom prst="rect">
              <a:avLst/>
            </a:prstGeom>
            <a:solidFill>
              <a:srgbClr val="C8C8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71E777B2-6E6B-40FC-A9D7-346217FF6FE6}"/>
                </a:ext>
              </a:extLst>
            </p:cNvPr>
            <p:cNvSpPr/>
            <p:nvPr/>
          </p:nvSpPr>
          <p:spPr>
            <a:xfrm>
              <a:off x="3159918" y="4138613"/>
              <a:ext cx="733425" cy="381000"/>
            </a:xfrm>
            <a:prstGeom prst="rect">
              <a:avLst/>
            </a:prstGeom>
            <a:solidFill>
              <a:srgbClr val="FFB9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hteck 21">
              <a:extLst>
                <a:ext uri="{FF2B5EF4-FFF2-40B4-BE49-F238E27FC236}">
                  <a16:creationId xmlns:a16="http://schemas.microsoft.com/office/drawing/2014/main" id="{1C8F898A-1C62-42E9-8192-36E04C8F0EE0}"/>
                </a:ext>
              </a:extLst>
            </p:cNvPr>
            <p:cNvSpPr/>
            <p:nvPr/>
          </p:nvSpPr>
          <p:spPr>
            <a:xfrm>
              <a:off x="4441427" y="4138613"/>
              <a:ext cx="733425" cy="381000"/>
            </a:xfrm>
            <a:prstGeom prst="rect">
              <a:avLst/>
            </a:prstGeom>
            <a:solidFill>
              <a:srgbClr val="FFAAA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C9445892-E2B6-4CB0-B2AC-9B9033502294}"/>
                </a:ext>
              </a:extLst>
            </p:cNvPr>
            <p:cNvSpPr/>
            <p:nvPr/>
          </p:nvSpPr>
          <p:spPr>
            <a:xfrm>
              <a:off x="5722936" y="4138613"/>
              <a:ext cx="733425" cy="381000"/>
            </a:xfrm>
            <a:prstGeom prst="rect">
              <a:avLst/>
            </a:prstGeom>
            <a:solidFill>
              <a:srgbClr val="FFBE7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8F867D91-C7AB-4064-9152-940A22934B92}"/>
                </a:ext>
              </a:extLst>
            </p:cNvPr>
            <p:cNvSpPr/>
            <p:nvPr/>
          </p:nvSpPr>
          <p:spPr>
            <a:xfrm>
              <a:off x="7004445" y="4138613"/>
              <a:ext cx="733425" cy="381000"/>
            </a:xfrm>
            <a:prstGeom prst="rect">
              <a:avLst/>
            </a:prstGeom>
            <a:solidFill>
              <a:srgbClr val="FFE48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4F98B275-7272-42A4-BE21-CF6574D92787}"/>
                </a:ext>
              </a:extLst>
            </p:cNvPr>
            <p:cNvSpPr/>
            <p:nvPr/>
          </p:nvSpPr>
          <p:spPr>
            <a:xfrm>
              <a:off x="8285954" y="4138613"/>
              <a:ext cx="733425" cy="381000"/>
            </a:xfrm>
            <a:prstGeom prst="rect">
              <a:avLst/>
            </a:prstGeom>
            <a:solidFill>
              <a:srgbClr val="D2DC4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CC35FD80-87D7-40D1-828C-CBB0CFA5E700}"/>
                </a:ext>
              </a:extLst>
            </p:cNvPr>
            <p:cNvSpPr/>
            <p:nvPr/>
          </p:nvSpPr>
          <p:spPr>
            <a:xfrm>
              <a:off x="9567463" y="4138613"/>
              <a:ext cx="733425" cy="381000"/>
            </a:xfrm>
            <a:prstGeom prst="rect">
              <a:avLst/>
            </a:prstGeom>
            <a:solidFill>
              <a:srgbClr val="8CE6A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290DCA2F-F522-4203-A40A-363C1B073648}"/>
                </a:ext>
              </a:extLst>
            </p:cNvPr>
            <p:cNvSpPr/>
            <p:nvPr/>
          </p:nvSpPr>
          <p:spPr>
            <a:xfrm>
              <a:off x="10848975" y="4138613"/>
              <a:ext cx="733425" cy="381000"/>
            </a:xfrm>
            <a:prstGeom prst="rect">
              <a:avLst/>
            </a:prstGeom>
            <a:solidFill>
              <a:srgbClr val="8CE6D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EE5E6E0E-9E7E-4985-B2BB-6B0229531741}"/>
                </a:ext>
              </a:extLst>
            </p:cNvPr>
            <p:cNvSpPr txBox="1"/>
            <p:nvPr/>
          </p:nvSpPr>
          <p:spPr>
            <a:xfrm>
              <a:off x="609600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Blau</a:t>
              </a:r>
              <a:r>
                <a:rPr lang="en-US" sz="800" dirty="0"/>
                <a:t> 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#97C6FF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151 / 198 / 255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43 / 15 / 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1040-R90B</a:t>
              </a:r>
            </a:p>
          </p:txBody>
        </p:sp>
        <p:sp>
          <p:nvSpPr>
            <p:cNvPr id="55" name="Textfeld 54">
              <a:extLst>
                <a:ext uri="{FF2B5EF4-FFF2-40B4-BE49-F238E27FC236}">
                  <a16:creationId xmlns:a16="http://schemas.microsoft.com/office/drawing/2014/main" id="{80A1ABE7-6E52-4F47-A7F0-403DD26EB0AC}"/>
                </a:ext>
              </a:extLst>
            </p:cNvPr>
            <p:cNvSpPr txBox="1"/>
            <p:nvPr/>
          </p:nvSpPr>
          <p:spPr>
            <a:xfrm>
              <a:off x="1889522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Violett</a:t>
              </a:r>
              <a:r>
                <a:rPr lang="en-US" sz="800" dirty="0"/>
                <a:t> 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#C8C8FF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200 / 200 / 255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20 / 20 / 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0520-R60B</a:t>
              </a:r>
            </a:p>
          </p:txBody>
        </p:sp>
        <p:sp>
          <p:nvSpPr>
            <p:cNvPr id="56" name="Textfeld 55">
              <a:extLst>
                <a:ext uri="{FF2B5EF4-FFF2-40B4-BE49-F238E27FC236}">
                  <a16:creationId xmlns:a16="http://schemas.microsoft.com/office/drawing/2014/main" id="{C505F438-4057-4F6D-844A-D28EFD633C30}"/>
                </a:ext>
              </a:extLst>
            </p:cNvPr>
            <p:cNvSpPr txBox="1"/>
            <p:nvPr/>
          </p:nvSpPr>
          <p:spPr>
            <a:xfrm>
              <a:off x="3169444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/>
                <a:t>Magenta 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#FFB9FF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255 / 185 / 255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0 / 30 / 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0520-R40B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5B307C51-B940-4DA7-83B6-413E2C00CBE4}"/>
                </a:ext>
              </a:extLst>
            </p:cNvPr>
            <p:cNvSpPr txBox="1"/>
            <p:nvPr/>
          </p:nvSpPr>
          <p:spPr>
            <a:xfrm>
              <a:off x="4449366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nn-NO" sz="800" dirty="0"/>
                <a:t>Rot 2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Hex	#FFAAA5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RGB	255 / 170 / 165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CMYK	0 / 44 / 27 / 0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NCS	1030-R</a:t>
              </a:r>
              <a:endParaRPr lang="en-US" sz="800" dirty="0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294D7D7D-934A-40BA-8D37-C0F89A574BFA}"/>
                </a:ext>
              </a:extLst>
            </p:cNvPr>
            <p:cNvSpPr txBox="1"/>
            <p:nvPr/>
          </p:nvSpPr>
          <p:spPr>
            <a:xfrm>
              <a:off x="5729288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fr-FR" sz="800" dirty="0"/>
                <a:t>Orange 2</a:t>
              </a:r>
            </a:p>
            <a:p>
              <a:pPr>
                <a:tabLst>
                  <a:tab pos="360000" algn="l"/>
                </a:tabLst>
              </a:pPr>
              <a:r>
                <a:rPr lang="fr-FR" sz="800" dirty="0" err="1"/>
                <a:t>Hex</a:t>
              </a:r>
              <a:r>
                <a:rPr lang="fr-FR" sz="800" dirty="0"/>
                <a:t>	#FFBE78</a:t>
              </a:r>
            </a:p>
            <a:p>
              <a:pPr>
                <a:tabLst>
                  <a:tab pos="360000" algn="l"/>
                </a:tabLst>
              </a:pPr>
              <a:r>
                <a:rPr lang="fr-FR" sz="800" dirty="0"/>
                <a:t>RGB	255 / 190 / 120</a:t>
              </a:r>
            </a:p>
            <a:p>
              <a:pPr>
                <a:tabLst>
                  <a:tab pos="360000" algn="l"/>
                </a:tabLst>
              </a:pPr>
              <a:r>
                <a:rPr lang="fr-FR" sz="800" dirty="0"/>
                <a:t>CMYK	0 / 30 / 55 / 0</a:t>
              </a:r>
            </a:p>
            <a:p>
              <a:pPr>
                <a:tabLst>
                  <a:tab pos="360000" algn="l"/>
                </a:tabLst>
              </a:pPr>
              <a:r>
                <a:rPr lang="fr-FR" sz="800" dirty="0"/>
                <a:t>NCS	1030-Y30R</a:t>
              </a:r>
              <a:endParaRPr lang="en-US" sz="800" dirty="0"/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97181276-56DF-49BC-AE2D-384C0E6A3CAA}"/>
                </a:ext>
              </a:extLst>
            </p:cNvPr>
            <p:cNvSpPr txBox="1"/>
            <p:nvPr/>
          </p:nvSpPr>
          <p:spPr>
            <a:xfrm>
              <a:off x="7009210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/>
                <a:t>Gelb 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#FFE483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255 / 228 / 131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0 / 5 / 50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0530-G90Y</a:t>
              </a:r>
            </a:p>
          </p:txBody>
        </p:sp>
        <p:sp>
          <p:nvSpPr>
            <p:cNvPr id="60" name="Textfeld 59">
              <a:extLst>
                <a:ext uri="{FF2B5EF4-FFF2-40B4-BE49-F238E27FC236}">
                  <a16:creationId xmlns:a16="http://schemas.microsoft.com/office/drawing/2014/main" id="{5A50BECD-151A-450E-9B17-40F5A8A51F52}"/>
                </a:ext>
              </a:extLst>
            </p:cNvPr>
            <p:cNvSpPr txBox="1"/>
            <p:nvPr/>
          </p:nvSpPr>
          <p:spPr>
            <a:xfrm>
              <a:off x="8289132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Oliv</a:t>
              </a:r>
              <a:r>
                <a:rPr lang="en-US" sz="800" dirty="0"/>
                <a:t> 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#D2DC46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210 / 220 / 70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25 / 0 / 81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0550-G60Y</a:t>
              </a:r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65C35EB2-9EF4-42C9-89FA-56F3DF910281}"/>
                </a:ext>
              </a:extLst>
            </p:cNvPr>
            <p:cNvSpPr txBox="1"/>
            <p:nvPr/>
          </p:nvSpPr>
          <p:spPr>
            <a:xfrm>
              <a:off x="9569054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Grün</a:t>
              </a:r>
              <a:r>
                <a:rPr lang="en-US" sz="800" dirty="0"/>
                <a:t> 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#8CE6AA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140 / 230 / 170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45 / 0 / 45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2030-G10Y</a:t>
              </a:r>
            </a:p>
          </p:txBody>
        </p: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18C8F522-3AA0-4E8D-B9C7-00BEB2991CB9}"/>
                </a:ext>
              </a:extLst>
            </p:cNvPr>
            <p:cNvSpPr txBox="1"/>
            <p:nvPr/>
          </p:nvSpPr>
          <p:spPr>
            <a:xfrm>
              <a:off x="10848975" y="4643835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Türkis</a:t>
              </a:r>
              <a:r>
                <a:rPr lang="en-US" sz="800" dirty="0"/>
                <a:t> 2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#8CE6D7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140 / 230 / 215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45 / 0 / 20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1030-B30G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398D963C-95BC-4910-AD7E-824F016E2F76}"/>
              </a:ext>
            </a:extLst>
          </p:cNvPr>
          <p:cNvGrpSpPr/>
          <p:nvPr/>
        </p:nvGrpSpPr>
        <p:grpSpPr>
          <a:xfrm>
            <a:off x="609600" y="1309688"/>
            <a:ext cx="2019146" cy="1435100"/>
            <a:chOff x="609600" y="1052513"/>
            <a:chExt cx="2019146" cy="1435100"/>
          </a:xfrm>
        </p:grpSpPr>
        <p:sp>
          <p:nvSpPr>
            <p:cNvPr id="40" name="Rechteck 39">
              <a:extLst>
                <a:ext uri="{FF2B5EF4-FFF2-40B4-BE49-F238E27FC236}">
                  <a16:creationId xmlns:a16="http://schemas.microsoft.com/office/drawing/2014/main" id="{D91D7398-5451-4E2C-940D-03ADC617B18C}"/>
                </a:ext>
              </a:extLst>
            </p:cNvPr>
            <p:cNvSpPr/>
            <p:nvPr/>
          </p:nvSpPr>
          <p:spPr>
            <a:xfrm>
              <a:off x="616346" y="1052513"/>
              <a:ext cx="2012400" cy="684212"/>
            </a:xfrm>
            <a:prstGeom prst="rect">
              <a:avLst/>
            </a:prstGeom>
            <a:solidFill>
              <a:srgbClr val="00008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AC4F9D5-8339-4153-B67B-7ACC8E16CCE3}"/>
                </a:ext>
              </a:extLst>
            </p:cNvPr>
            <p:cNvSpPr txBox="1"/>
            <p:nvPr/>
          </p:nvSpPr>
          <p:spPr>
            <a:xfrm>
              <a:off x="609600" y="1872060"/>
              <a:ext cx="1666875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Brillantblau</a:t>
              </a:r>
              <a:endParaRPr lang="en-US" sz="800" dirty="0"/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#00008C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0 / 0 / 140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100 / 80 / 5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3060-R80B</a:t>
              </a:r>
            </a:p>
          </p:txBody>
        </p:sp>
      </p:grpSp>
      <p:grpSp>
        <p:nvGrpSpPr>
          <p:cNvPr id="73" name="Gruppieren 72">
            <a:extLst>
              <a:ext uri="{FF2B5EF4-FFF2-40B4-BE49-F238E27FC236}">
                <a16:creationId xmlns:a16="http://schemas.microsoft.com/office/drawing/2014/main" id="{8AF3DAE7-8404-4007-AE1A-C23015BA371F}"/>
              </a:ext>
            </a:extLst>
          </p:cNvPr>
          <p:cNvGrpSpPr/>
          <p:nvPr/>
        </p:nvGrpSpPr>
        <p:grpSpPr>
          <a:xfrm>
            <a:off x="7009210" y="1309688"/>
            <a:ext cx="5039915" cy="1435100"/>
            <a:chOff x="7009210" y="1052513"/>
            <a:chExt cx="5039915" cy="1435100"/>
          </a:xfrm>
        </p:grpSpPr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0E41642A-5E53-4F23-8066-3BA82738D548}"/>
                </a:ext>
              </a:extLst>
            </p:cNvPr>
            <p:cNvSpPr/>
            <p:nvPr/>
          </p:nvSpPr>
          <p:spPr>
            <a:xfrm>
              <a:off x="7009210" y="1052513"/>
              <a:ext cx="733425" cy="684212"/>
            </a:xfrm>
            <a:prstGeom prst="rect">
              <a:avLst/>
            </a:prstGeom>
            <a:solidFill>
              <a:srgbClr val="0000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hteck 41">
              <a:extLst>
                <a:ext uri="{FF2B5EF4-FFF2-40B4-BE49-F238E27FC236}">
                  <a16:creationId xmlns:a16="http://schemas.microsoft.com/office/drawing/2014/main" id="{76482F71-2A0A-4B23-80EB-0CD23AF14BB6}"/>
                </a:ext>
              </a:extLst>
            </p:cNvPr>
            <p:cNvSpPr/>
            <p:nvPr/>
          </p:nvSpPr>
          <p:spPr>
            <a:xfrm>
              <a:off x="8289132" y="1052513"/>
              <a:ext cx="733425" cy="684212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CE15FFA5-549A-417B-A278-10F761D3342D}"/>
                </a:ext>
              </a:extLst>
            </p:cNvPr>
            <p:cNvSpPr/>
            <p:nvPr/>
          </p:nvSpPr>
          <p:spPr>
            <a:xfrm>
              <a:off x="9569054" y="1052513"/>
              <a:ext cx="733425" cy="684212"/>
            </a:xfrm>
            <a:prstGeom prst="rect">
              <a:avLst/>
            </a:prstGeom>
            <a:solidFill>
              <a:srgbClr val="323F4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BCA40B61-6453-41D0-BD2B-4309F57036C7}"/>
                </a:ext>
              </a:extLst>
            </p:cNvPr>
            <p:cNvSpPr/>
            <p:nvPr/>
          </p:nvSpPr>
          <p:spPr>
            <a:xfrm>
              <a:off x="10848975" y="1052513"/>
              <a:ext cx="733425" cy="684212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10648FA2-0E4E-49FB-9604-036D1C1DD8AC}"/>
                </a:ext>
              </a:extLst>
            </p:cNvPr>
            <p:cNvSpPr txBox="1"/>
            <p:nvPr/>
          </p:nvSpPr>
          <p:spPr>
            <a:xfrm>
              <a:off x="7009210" y="1872060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Dunkelblau</a:t>
              </a:r>
              <a:endParaRPr lang="en-US" sz="800" dirty="0"/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#001450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0 / 20 / 80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100 / 70 </a:t>
              </a:r>
              <a:r>
                <a:rPr lang="en-US" sz="800"/>
                <a:t>/ 10 </a:t>
              </a:r>
              <a:r>
                <a:rPr lang="en-US" sz="800" dirty="0"/>
                <a:t>/ 60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7020-R70B</a:t>
              </a:r>
            </a:p>
          </p:txBody>
        </p: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28BF8421-3AF0-48E1-9F0C-05D94C393A78}"/>
                </a:ext>
              </a:extLst>
            </p:cNvPr>
            <p:cNvSpPr txBox="1"/>
            <p:nvPr/>
          </p:nvSpPr>
          <p:spPr>
            <a:xfrm>
              <a:off x="8289132" y="1872060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nn-NO" sz="800" dirty="0"/>
                <a:t>Schwarz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Hex	#00000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RGB	0 / 0 / 0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CMYK	0 / 0 / 0 / 100</a:t>
              </a:r>
            </a:p>
            <a:p>
              <a:pPr>
                <a:tabLst>
                  <a:tab pos="360000" algn="l"/>
                </a:tabLst>
              </a:pPr>
              <a:r>
                <a:rPr lang="nn-NO" sz="800" dirty="0"/>
                <a:t>NCS	9000-N</a:t>
              </a:r>
              <a:endParaRPr lang="en-US" sz="800" dirty="0"/>
            </a:p>
          </p:txBody>
        </p: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FC2833BB-3657-4CB9-87DF-B812D7EC31FE}"/>
                </a:ext>
              </a:extLst>
            </p:cNvPr>
            <p:cNvSpPr txBox="1"/>
            <p:nvPr/>
          </p:nvSpPr>
          <p:spPr>
            <a:xfrm>
              <a:off x="9569054" y="1872060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/>
                <a:t>Grau 100%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#323F4B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50 / 63 / 75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45 / 20 / 5 / 80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8005-R80B</a:t>
              </a:r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2D11A905-2C95-4A86-9012-FE6F990FD455}"/>
                </a:ext>
              </a:extLst>
            </p:cNvPr>
            <p:cNvSpPr txBox="1"/>
            <p:nvPr/>
          </p:nvSpPr>
          <p:spPr>
            <a:xfrm>
              <a:off x="10848975" y="1872060"/>
              <a:ext cx="1200150" cy="61555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>
                <a:tabLst>
                  <a:tab pos="360000" algn="l"/>
                </a:tabLst>
              </a:pPr>
              <a:r>
                <a:rPr lang="en-US" sz="800" dirty="0" err="1"/>
                <a:t>Weiß</a:t>
              </a:r>
              <a:endParaRPr lang="en-US" sz="800" dirty="0"/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Hex	#FFFFFF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RGB	255 / 255 / 255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CMYK	0 / 0 / 0 / 0</a:t>
              </a:r>
            </a:p>
            <a:p>
              <a:pPr>
                <a:tabLst>
                  <a:tab pos="360000" algn="l"/>
                </a:tabLst>
              </a:pPr>
              <a:r>
                <a:rPr lang="en-US" sz="800" dirty="0"/>
                <a:t>NCS	0300-N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04837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92127-A6D4-4DE7-B042-2AE843D731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Hier steht der Präsentationstitel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91F6330-C39B-4485-AD3C-BF8578A251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Hier steht ein Untertitel z.B. der Name des Vortragenden, Struktureinheit, </a:t>
            </a:r>
            <a:br>
              <a:rPr lang="de-DE" dirty="0"/>
            </a:br>
            <a:r>
              <a:rPr lang="de-DE" dirty="0"/>
              <a:t>Ort und Datum des Vortrags sowie weitere Kontextinformationen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03C57DC0-CDAD-4228-BA26-3D1CE1558B7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33605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AF403F2C-4CD0-49EB-9D1C-4A32DA0859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Untertitel 5">
            <a:extLst>
              <a:ext uri="{FF2B5EF4-FFF2-40B4-BE49-F238E27FC236}">
                <a16:creationId xmlns:a16="http://schemas.microsoft.com/office/drawing/2014/main" id="{09F9827E-29F5-4B78-9D48-31E0A97247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FDD7614A-B43E-4E41-A5A9-156F52E1C8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9523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7">
            <a:extLst>
              <a:ext uri="{FF2B5EF4-FFF2-40B4-BE49-F238E27FC236}">
                <a16:creationId xmlns:a16="http://schemas.microsoft.com/office/drawing/2014/main" id="{4811EB53-062D-4059-B854-4732FB2C899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F7BD043A-001A-4AF3-8AE3-C6D1E5432FB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Untertitel 5">
            <a:extLst>
              <a:ext uri="{FF2B5EF4-FFF2-40B4-BE49-F238E27FC236}">
                <a16:creationId xmlns:a16="http://schemas.microsoft.com/office/drawing/2014/main" id="{6200F6E1-CC08-41B7-A8C4-6860BC56BB4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EBF446D3-B04F-4567-BFA1-34BF421B7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11715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79359034-6132-4867-83B4-AE54EA0764B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Untertitel 6">
            <a:extLst>
              <a:ext uri="{FF2B5EF4-FFF2-40B4-BE49-F238E27FC236}">
                <a16:creationId xmlns:a16="http://schemas.microsoft.com/office/drawing/2014/main" id="{5A6EB2F1-24AF-4F9B-8C00-53E854A509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FDDC15C2-508D-44C0-ACBE-F5B4A6E4DE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575CCBFE-BC1A-4A7A-BC8D-5D0C11869B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58158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2B22282-4FAE-44F9-AFE1-5CAEEEC2762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Bildplatzhalter 8">
            <a:extLst>
              <a:ext uri="{FF2B5EF4-FFF2-40B4-BE49-F238E27FC236}">
                <a16:creationId xmlns:a16="http://schemas.microsoft.com/office/drawing/2014/main" id="{D5DDE304-0555-480B-95B1-FEA18673CD9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9BE67CA1-1E8C-4454-B124-2AC0DBF584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F9C1E27E-711F-4B6D-B964-7789105662A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8F72537B-DAD4-46FA-B194-9763A8DB95D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73AD8C1A-92DB-46DA-85DF-04A1B69E5CF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ADA21C0-AFF7-41E8-B42B-5CFD3B522E6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54D7B3E4-B88E-4B25-A6F2-9E6A3635130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E2D5C63B-C733-498D-B0FE-B89C433BD31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548705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>
            <a:extLst>
              <a:ext uri="{FF2B5EF4-FFF2-40B4-BE49-F238E27FC236}">
                <a16:creationId xmlns:a16="http://schemas.microsoft.com/office/drawing/2014/main" id="{C362CE5A-8A56-4314-82D9-21234C56D20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2F61FF7-1988-4EC0-88B0-739AEA6AAEE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98985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5">
            <a:extLst>
              <a:ext uri="{FF2B5EF4-FFF2-40B4-BE49-F238E27FC236}">
                <a16:creationId xmlns:a16="http://schemas.microsoft.com/office/drawing/2014/main" id="{A0BF1A8A-9972-4C5F-AC59-C576C6A3F1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3D79719-47EB-45E0-8573-097CCB2A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08341FB-0809-4F50-8B3F-6C3F0FE5911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31708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77C8B2-8653-4318-AFFF-CFB5AD5E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>
              <a:solidFill>
                <a:srgbClr val="00008C"/>
              </a:solidFill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00FC70C-5ECA-4309-A9CF-A3A163FD4BA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 dirty="0">
              <a:solidFill>
                <a:srgbClr val="00008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09959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E4A51DB8-9236-4C7B-BF74-499075921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 dirty="0">
              <a:solidFill>
                <a:schemeClr val="bg1"/>
              </a:solidFill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E1EAC44-8F96-425F-A13B-726137757D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de-DE">
              <a:solidFill>
                <a:schemeClr val="bg1"/>
              </a:solidFill>
            </a:endParaRP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9E396AD7-ACCD-4E0C-B6DD-DB27BC964FF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</p:sp>
    </p:spTree>
    <p:extLst>
      <p:ext uri="{BB962C8B-B14F-4D97-AF65-F5344CB8AC3E}">
        <p14:creationId xmlns:p14="http://schemas.microsoft.com/office/powerpoint/2010/main" val="182210615"/>
      </p:ext>
    </p:extLst>
  </p:cSld>
  <p:clrMapOvr>
    <a:masterClrMapping/>
  </p:clrMapOvr>
</p:sld>
</file>

<file path=ppt/theme/theme1.xml><?xml version="1.0" encoding="utf-8"?>
<a:theme xmlns:a="http://schemas.openxmlformats.org/drawingml/2006/main" name="TUD Standard_20 pt">
  <a:themeElements>
    <a:clrScheme name="Farbset dunkel TUD CD">
      <a:dk1>
        <a:sysClr val="windowText" lastClr="000000"/>
      </a:dk1>
      <a:lt1>
        <a:sysClr val="window" lastClr="FFFFFF"/>
      </a:lt1>
      <a:dk2>
        <a:srgbClr val="00008C"/>
      </a:dk2>
      <a:lt2>
        <a:srgbClr val="FFFFFF"/>
      </a:lt2>
      <a:accent1>
        <a:srgbClr val="7369BE"/>
      </a:accent1>
      <a:accent2>
        <a:srgbClr val="BC1589"/>
      </a:accent2>
      <a:accent3>
        <a:srgbClr val="C85000"/>
      </a:accent3>
      <a:accent4>
        <a:srgbClr val="FFC700"/>
      </a:accent4>
      <a:accent5>
        <a:srgbClr val="2F57B2"/>
      </a:accent5>
      <a:accent6>
        <a:srgbClr val="0A777F"/>
      </a:accent6>
      <a:hlink>
        <a:srgbClr val="00008C"/>
      </a:hlink>
      <a:folHlink>
        <a:srgbClr val="00008C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51106_TUD_Präsentationsvorlage_16zu9_leer.potx" id="{A27832DB-5D38-4212-9611-DD26E22AA147}" vid="{855A19AF-23FD-4038-B911-F867C9011DAF}"/>
    </a:ext>
  </a:extLst>
</a:theme>
</file>

<file path=ppt/theme/theme2.xml><?xml version="1.0" encoding="utf-8"?>
<a:theme xmlns:a="http://schemas.openxmlformats.org/drawingml/2006/main" name="Seiten mit Shape variabel">
  <a:themeElements>
    <a:clrScheme name="TUD_2025_Blau-Türkis">
      <a:dk1>
        <a:srgbClr val="000000"/>
      </a:dk1>
      <a:lt1>
        <a:sysClr val="window" lastClr="FFFFFF"/>
      </a:lt1>
      <a:dk2>
        <a:srgbClr val="566371"/>
      </a:dk2>
      <a:lt2>
        <a:srgbClr val="FFFFFF"/>
      </a:lt2>
      <a:accent1>
        <a:srgbClr val="00008C"/>
      </a:accent1>
      <a:accent2>
        <a:srgbClr val="97C6FF"/>
      </a:accent2>
      <a:accent3>
        <a:srgbClr val="2F57B2"/>
      </a:accent3>
      <a:accent4>
        <a:srgbClr val="00005A"/>
      </a:accent4>
      <a:accent5>
        <a:srgbClr val="0A777F"/>
      </a:accent5>
      <a:accent6>
        <a:srgbClr val="8CE6D7"/>
      </a:accent6>
      <a:hlink>
        <a:srgbClr val="00008C"/>
      </a:hlink>
      <a:folHlink>
        <a:srgbClr val="2F57B2"/>
      </a:folHlink>
    </a:clrScheme>
    <a:fontScheme name="TUD_2025_Noto Sans">
      <a:majorFont>
        <a:latin typeface="Noto Sans Medium"/>
        <a:ea typeface=""/>
        <a:cs typeface=""/>
      </a:majorFont>
      <a:minorFont>
        <a:latin typeface="Noto Sans"/>
        <a:ea typeface=""/>
        <a:cs typeface=""/>
      </a:minorFont>
    </a:fontScheme>
    <a:fmtScheme name="Subtile Körper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51106_TUD_Präsentationsvorlage_16zu9_leer.potx" id="{A27832DB-5D38-4212-9611-DD26E22AA147}" vid="{B6C18103-FCC1-443E-9341-ECEF965D5356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RIoTPresentation</Template>
  <TotalTime>0</TotalTime>
  <Words>1211</Words>
  <Application>Microsoft Office PowerPoint</Application>
  <PresentationFormat>Widescreen</PresentationFormat>
  <Paragraphs>221</Paragraphs>
  <Slides>28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39" baseType="lpstr">
      <vt:lpstr>Arial</vt:lpstr>
      <vt:lpstr>Calibri</vt:lpstr>
      <vt:lpstr>Noto Sans</vt:lpstr>
      <vt:lpstr>Noto Sans Medium</vt:lpstr>
      <vt:lpstr>Noto Serif</vt:lpstr>
      <vt:lpstr>Noto Serif (Textkörper)</vt:lpstr>
      <vt:lpstr>Noto Serif Light</vt:lpstr>
      <vt:lpstr>Open Sans</vt:lpstr>
      <vt:lpstr>Symbol</vt:lpstr>
      <vt:lpstr>TUD Standard_20 pt</vt:lpstr>
      <vt:lpstr>Seiten mit Shape variabel</vt:lpstr>
      <vt:lpstr>Flashing RIOT from a Browser</vt:lpstr>
      <vt:lpstr>Vision</vt:lpstr>
      <vt:lpstr>Vision</vt:lpstr>
      <vt:lpstr>Goals</vt:lpstr>
      <vt:lpstr>Goals</vt:lpstr>
      <vt:lpstr>How to flash an MCU from a Browser?</vt:lpstr>
      <vt:lpstr>How to flash an MCU from a Browser?</vt:lpstr>
      <vt:lpstr>What about web hosted code editors?</vt:lpstr>
      <vt:lpstr>What about web hosted code editors?</vt:lpstr>
      <vt:lpstr>Backend</vt:lpstr>
      <vt:lpstr>Goals Reminder</vt:lpstr>
      <vt:lpstr>PowerPoint Presentation</vt:lpstr>
      <vt:lpstr>Architecture</vt:lpstr>
      <vt:lpstr>PowerPoint Presentation</vt:lpstr>
      <vt:lpstr>But Why?</vt:lpstr>
      <vt:lpstr>PowerPoint Presentation</vt:lpstr>
      <vt:lpstr>Hinweise zur Nutzung der Layouts</vt:lpstr>
      <vt:lpstr>Titel Schriftgröße 32 pt</vt:lpstr>
      <vt:lpstr>TUD Farben</vt:lpstr>
      <vt:lpstr>Hier steht der Präsentationstitel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cheater 78</dc:creator>
  <cp:lastModifiedBy>cheater 78</cp:lastModifiedBy>
  <cp:revision>19</cp:revision>
  <dcterms:created xsi:type="dcterms:W3CDTF">2026-03-23T15:10:47Z</dcterms:created>
  <dcterms:modified xsi:type="dcterms:W3CDTF">2026-03-23T17:37:15Z</dcterms:modified>
</cp:coreProperties>
</file>