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41" r:id="rId2"/>
  </p:sldMasterIdLst>
  <p:notesMasterIdLst>
    <p:notesMasterId r:id="rId22"/>
  </p:notesMasterIdLst>
  <p:handoutMasterIdLst>
    <p:handoutMasterId r:id="rId23"/>
  </p:handoutMasterIdLst>
  <p:sldIdLst>
    <p:sldId id="288" r:id="rId3"/>
    <p:sldId id="305" r:id="rId4"/>
    <p:sldId id="299" r:id="rId5"/>
    <p:sldId id="301" r:id="rId6"/>
    <p:sldId id="303" r:id="rId7"/>
    <p:sldId id="307" r:id="rId8"/>
    <p:sldId id="308" r:id="rId9"/>
    <p:sldId id="302" r:id="rId10"/>
    <p:sldId id="295" r:id="rId11"/>
    <p:sldId id="296" r:id="rId12"/>
    <p:sldId id="314" r:id="rId13"/>
    <p:sldId id="313" r:id="rId14"/>
    <p:sldId id="317" r:id="rId15"/>
    <p:sldId id="318" r:id="rId16"/>
    <p:sldId id="321" r:id="rId17"/>
    <p:sldId id="319" r:id="rId18"/>
    <p:sldId id="320" r:id="rId19"/>
    <p:sldId id="310" r:id="rId20"/>
    <p:sldId id="311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252526"/>
    <a:srgbClr val="97C6FF"/>
    <a:srgbClr val="323F4B"/>
    <a:srgbClr val="00008C"/>
    <a:srgbClr val="2F57B2"/>
    <a:srgbClr val="FFFFFF"/>
    <a:srgbClr val="000000"/>
    <a:srgbClr val="00005A"/>
    <a:srgbClr val="C8C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69510" autoAdjust="0"/>
  </p:normalViewPr>
  <p:slideViewPr>
    <p:cSldViewPr snapToGrid="0" showGuides="1">
      <p:cViewPr>
        <p:scale>
          <a:sx n="75" d="100"/>
          <a:sy n="75" d="100"/>
        </p:scale>
        <p:origin x="3432" y="8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840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84260DF-C685-4FF6-A43E-7F93FB3E64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8901AA-A65C-4D7D-B03E-B88B42C819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B67984-F0B9-4D31-A8F6-8AF021B9C2EF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3CA3E7-8995-4D33-854F-35DAE52EA9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51F65-D033-4BD6-A4AB-E115D806FB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2D436-8D5A-47CC-AED7-9827D8D39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422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5960CC-0992-4111-87D3-C02B03B2EA6C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EB764-55E2-4077-8C7A-EB9EFE714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3365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02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Wie Titel: Mikrocontroller über Browser </a:t>
            </a:r>
            <a:r>
              <a:rPr lang="de-DE" dirty="0" err="1"/>
              <a:t>flashen</a:t>
            </a:r>
            <a:endParaRPr lang="de-DE" dirty="0"/>
          </a:p>
          <a:p>
            <a:endParaRPr lang="de-DE" dirty="0"/>
          </a:p>
          <a:p>
            <a:r>
              <a:rPr lang="de-DE" dirty="0"/>
              <a:t>Idee:</a:t>
            </a:r>
          </a:p>
          <a:p>
            <a:endParaRPr lang="de-DE" dirty="0"/>
          </a:p>
          <a:p>
            <a:r>
              <a:rPr lang="de-DE" dirty="0" err="1"/>
              <a:t>website</a:t>
            </a:r>
            <a:r>
              <a:rPr lang="de-DE" dirty="0"/>
              <a:t> aufmachen</a:t>
            </a:r>
          </a:p>
          <a:p>
            <a:endParaRPr lang="de-DE" dirty="0"/>
          </a:p>
          <a:p>
            <a:r>
              <a:rPr lang="de-DE" dirty="0"/>
              <a:t>Entwicklungsumgebung bekommen</a:t>
            </a:r>
          </a:p>
          <a:p>
            <a:endParaRPr lang="de-DE" dirty="0"/>
          </a:p>
          <a:p>
            <a:r>
              <a:rPr lang="de-DE" dirty="0"/>
              <a:t>RIOT code schreiben </a:t>
            </a:r>
          </a:p>
          <a:p>
            <a:endParaRPr lang="de-DE" dirty="0"/>
          </a:p>
          <a:p>
            <a:r>
              <a:rPr lang="de-DE" dirty="0"/>
              <a:t>dann direkt einfach remote </a:t>
            </a:r>
            <a:r>
              <a:rPr lang="de-DE" dirty="0" err="1"/>
              <a:t>builden</a:t>
            </a:r>
            <a:r>
              <a:rPr lang="de-DE" dirty="0"/>
              <a:t> und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flashen</a:t>
            </a:r>
            <a:endParaRPr lang="de-DE" dirty="0"/>
          </a:p>
          <a:p>
            <a:endParaRPr lang="de-DE" dirty="0"/>
          </a:p>
          <a:p>
            <a:r>
              <a:rPr lang="de-DE" dirty="0"/>
              <a:t>kein </a:t>
            </a:r>
            <a:r>
              <a:rPr lang="de-DE" dirty="0" err="1"/>
              <a:t>setup</a:t>
            </a:r>
            <a:r>
              <a:rPr lang="de-DE" dirty="0"/>
              <a:t> von RIOT </a:t>
            </a:r>
            <a:r>
              <a:rPr lang="de-DE" dirty="0" err="1"/>
              <a:t>Toolchain</a:t>
            </a:r>
            <a:r>
              <a:rPr lang="de-DE" dirty="0"/>
              <a:t> oder IDE</a:t>
            </a:r>
          </a:p>
          <a:p>
            <a:endParaRPr lang="de-DE" dirty="0"/>
          </a:p>
          <a:p>
            <a:r>
              <a:rPr lang="de-DE" dirty="0" err="1"/>
              <a:t>platformunabhängig</a:t>
            </a:r>
            <a:r>
              <a:rPr lang="de-DE" dirty="0"/>
              <a:t>, braucht nur </a:t>
            </a:r>
            <a:r>
              <a:rPr lang="de-DE" dirty="0" err="1"/>
              <a:t>browser</a:t>
            </a:r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431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Ziele die wir im Rahmen unseres Projektes gesetzt haben</a:t>
            </a:r>
          </a:p>
          <a:p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mirkocontroller</a:t>
            </a:r>
            <a:r>
              <a:rPr lang="de-DE" dirty="0"/>
              <a:t> von einem Browser </a:t>
            </a:r>
            <a:r>
              <a:rPr lang="de-DE" dirty="0" err="1"/>
              <a:t>flashen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web </a:t>
            </a:r>
            <a:r>
              <a:rPr lang="de-DE" dirty="0" err="1"/>
              <a:t>ide</a:t>
            </a:r>
            <a:r>
              <a:rPr lang="de-DE" dirty="0"/>
              <a:t> bereitstellen die fertiges </a:t>
            </a:r>
            <a:r>
              <a:rPr lang="de-DE" dirty="0" err="1"/>
              <a:t>dev</a:t>
            </a:r>
            <a:r>
              <a:rPr lang="de-DE" dirty="0"/>
              <a:t> </a:t>
            </a:r>
            <a:r>
              <a:rPr lang="de-DE" dirty="0" err="1"/>
              <a:t>env</a:t>
            </a:r>
            <a:r>
              <a:rPr lang="de-DE" dirty="0"/>
              <a:t> im backend hat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Benutzung von RIOT für Anfänger vereinfachen (UI </a:t>
            </a:r>
            <a:r>
              <a:rPr lang="de-DE" dirty="0" err="1"/>
              <a:t>buttons</a:t>
            </a:r>
            <a:r>
              <a:rPr lang="de-DE" dirty="0"/>
              <a:t>)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möglichst nah an RIOT bleiben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einfaches und flexibles Hosting</a:t>
            </a:r>
          </a:p>
          <a:p>
            <a:pPr marL="628650" lvl="1" indent="-171450">
              <a:buFontTx/>
              <a:buChar char="-"/>
            </a:pPr>
            <a:r>
              <a:rPr lang="de-DE" dirty="0"/>
              <a:t>lokal</a:t>
            </a:r>
          </a:p>
          <a:p>
            <a:pPr marL="628650" lvl="1" indent="-171450">
              <a:buFontTx/>
              <a:buChar char="-"/>
            </a:pPr>
            <a:r>
              <a:rPr lang="de-DE" dirty="0"/>
              <a:t>oder zentral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1974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Browser lässt keine direkte </a:t>
            </a:r>
            <a:r>
              <a:rPr lang="de-DE" dirty="0" err="1"/>
              <a:t>kommunikation</a:t>
            </a:r>
            <a:r>
              <a:rPr lang="de-DE" dirty="0"/>
              <a:t> mit </a:t>
            </a:r>
            <a:r>
              <a:rPr lang="de-DE" dirty="0" err="1"/>
              <a:t>geräten</a:t>
            </a:r>
            <a:r>
              <a:rPr lang="de-DE" dirty="0"/>
              <a:t> zu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dirty="0"/>
              <a:t>web zugriff auf HW </a:t>
            </a:r>
            <a:r>
              <a:rPr lang="de-DE" dirty="0" err="1"/>
              <a:t>devices</a:t>
            </a:r>
            <a:r>
              <a:rPr lang="de-DE" dirty="0"/>
              <a:t> ein großes Sicherheitsrisiko</a:t>
            </a:r>
          </a:p>
          <a:p>
            <a:pPr marL="171450" indent="-171450">
              <a:buFontTx/>
              <a:buChar char="-"/>
            </a:pPr>
            <a:r>
              <a:rPr lang="de-DE" dirty="0"/>
              <a:t>deswegen APIs</a:t>
            </a:r>
          </a:p>
          <a:p>
            <a:pPr marL="171450" indent="-171450">
              <a:buFontTx/>
              <a:buChar char="-"/>
            </a:pPr>
            <a:r>
              <a:rPr lang="de-DE" dirty="0"/>
              <a:t>eingeschränkter zugriff auf Geräte</a:t>
            </a:r>
          </a:p>
          <a:p>
            <a:pPr marL="171450" indent="-171450">
              <a:buFontTx/>
              <a:buChar char="-"/>
            </a:pPr>
            <a:r>
              <a:rPr lang="de-DE" dirty="0"/>
              <a:t>weshalb man jedes Gerät einzeln zulassen muss</a:t>
            </a:r>
          </a:p>
          <a:p>
            <a:pPr marL="171450" indent="-171450">
              <a:buFontTx/>
              <a:buChar char="-"/>
            </a:pPr>
            <a:r>
              <a:rPr lang="de-DE" dirty="0"/>
              <a:t>nur von </a:t>
            </a:r>
            <a:r>
              <a:rPr lang="de-DE" dirty="0" err="1"/>
              <a:t>chromium</a:t>
            </a:r>
            <a:r>
              <a:rPr lang="de-DE" dirty="0"/>
              <a:t> unterstützt, </a:t>
            </a:r>
            <a:r>
              <a:rPr lang="de-DE" dirty="0" err="1"/>
              <a:t>firefox</a:t>
            </a:r>
            <a:r>
              <a:rPr lang="de-DE" dirty="0"/>
              <a:t>/</a:t>
            </a:r>
            <a:r>
              <a:rPr lang="de-DE" dirty="0" err="1"/>
              <a:t>safari</a:t>
            </a:r>
            <a:r>
              <a:rPr lang="de-DE" dirty="0"/>
              <a:t> fallen raus</a:t>
            </a:r>
          </a:p>
          <a:p>
            <a:pPr marL="171450" indent="-171450">
              <a:buFontTx/>
              <a:buChar char="-"/>
            </a:pPr>
            <a:r>
              <a:rPr lang="de-DE" dirty="0"/>
              <a:t>wir brauchten für unsere </a:t>
            </a:r>
            <a:r>
              <a:rPr lang="de-DE" dirty="0" err="1"/>
              <a:t>unterstüzten</a:t>
            </a:r>
            <a:r>
              <a:rPr lang="de-DE" dirty="0"/>
              <a:t> </a:t>
            </a:r>
            <a:r>
              <a:rPr lang="de-DE" dirty="0" err="1"/>
              <a:t>boards</a:t>
            </a:r>
            <a:r>
              <a:rPr lang="de-DE" dirty="0"/>
              <a:t> nur seriell, kann aber die anderen auch noch nutzen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auch wenn man zugriff auf ein gerät hat reicht das nicht</a:t>
            </a:r>
          </a:p>
          <a:p>
            <a:pPr marL="171450" indent="-171450">
              <a:buFontTx/>
              <a:buChar char="-"/>
            </a:pPr>
            <a:r>
              <a:rPr lang="de-DE" dirty="0"/>
              <a:t>benötigt </a:t>
            </a:r>
            <a:r>
              <a:rPr lang="de-DE" dirty="0" err="1"/>
              <a:t>immernoch</a:t>
            </a:r>
            <a:r>
              <a:rPr lang="de-DE" dirty="0"/>
              <a:t> einen </a:t>
            </a:r>
            <a:r>
              <a:rPr lang="de-DE" dirty="0" err="1"/>
              <a:t>javascript</a:t>
            </a:r>
            <a:r>
              <a:rPr lang="de-DE" dirty="0"/>
              <a:t> </a:t>
            </a:r>
            <a:r>
              <a:rPr lang="de-DE" dirty="0" err="1"/>
              <a:t>flasher</a:t>
            </a:r>
            <a:r>
              <a:rPr lang="de-DE" dirty="0"/>
              <a:t>, der </a:t>
            </a:r>
            <a:r>
              <a:rPr lang="de-DE" dirty="0" err="1"/>
              <a:t>compilierte</a:t>
            </a:r>
            <a:r>
              <a:rPr lang="de-DE" dirty="0"/>
              <a:t> </a:t>
            </a:r>
            <a:r>
              <a:rPr lang="de-DE" dirty="0" err="1"/>
              <a:t>binaries</a:t>
            </a:r>
            <a:r>
              <a:rPr lang="de-DE" dirty="0"/>
              <a:t> auf den µC überträgt</a:t>
            </a:r>
          </a:p>
          <a:p>
            <a:pPr marL="171450" indent="-171450">
              <a:buFontTx/>
              <a:buChar char="-"/>
            </a:pPr>
            <a:r>
              <a:rPr lang="de-DE" dirty="0"/>
              <a:t>hängt vom </a:t>
            </a:r>
            <a:r>
              <a:rPr lang="de-DE" dirty="0" err="1"/>
              <a:t>device</a:t>
            </a:r>
            <a:r>
              <a:rPr lang="de-DE" dirty="0"/>
              <a:t> ab -&gt; mehrere </a:t>
            </a:r>
            <a:r>
              <a:rPr lang="de-DE" dirty="0" err="1"/>
              <a:t>flasher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eigene </a:t>
            </a:r>
            <a:r>
              <a:rPr lang="de-DE" dirty="0" err="1"/>
              <a:t>flasher</a:t>
            </a:r>
            <a:r>
              <a:rPr lang="de-DE" dirty="0"/>
              <a:t> zu schreiben ist nicht praktikabel</a:t>
            </a:r>
          </a:p>
          <a:p>
            <a:pPr marL="0" indent="0">
              <a:buFontTx/>
              <a:buNone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können </a:t>
            </a:r>
            <a:r>
              <a:rPr lang="de-DE" dirty="0" err="1"/>
              <a:t>immernoch</a:t>
            </a:r>
            <a:r>
              <a:rPr lang="de-DE" dirty="0"/>
              <a:t> keinen eigenen Code schreiben, </a:t>
            </a:r>
            <a:r>
              <a:rPr lang="de-DE" dirty="0" err="1"/>
              <a:t>könn</a:t>
            </a:r>
            <a:r>
              <a:rPr lang="de-DE" dirty="0"/>
              <a:t> wir nicht </a:t>
            </a:r>
            <a:r>
              <a:rPr lang="de-DE" dirty="0" err="1"/>
              <a:t>iwie</a:t>
            </a:r>
            <a:r>
              <a:rPr lang="de-DE" dirty="0"/>
              <a:t> einen Editor hosten in dem wir auch </a:t>
            </a:r>
            <a:r>
              <a:rPr lang="de-DE" dirty="0" err="1"/>
              <a:t>flashen</a:t>
            </a:r>
            <a:r>
              <a:rPr lang="de-DE" dirty="0"/>
              <a:t> können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729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59D0E-05E5-F02E-779D-C74E11595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545A38-2962-C6F8-3CB4-CD6EAAAF7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4630E-94A1-BC8D-F805-523264EF8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viele web IDEs angeschaut</a:t>
            </a:r>
          </a:p>
          <a:p>
            <a:pPr marL="171450" indent="-171450">
              <a:buFontTx/>
              <a:buChar char="-"/>
            </a:pPr>
            <a:r>
              <a:rPr lang="de-DE" dirty="0"/>
              <a:t>basiert auf </a:t>
            </a:r>
            <a:r>
              <a:rPr lang="de-DE" dirty="0" err="1"/>
              <a:t>Vscode</a:t>
            </a:r>
            <a:r>
              <a:rPr lang="de-DE" dirty="0"/>
              <a:t>, einige </a:t>
            </a:r>
            <a:r>
              <a:rPr lang="de-DE" dirty="0" err="1"/>
              <a:t>erweiterungen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VSCode</a:t>
            </a:r>
            <a:r>
              <a:rPr lang="de-DE" dirty="0"/>
              <a:t> für viele vertraut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unterstütz </a:t>
            </a:r>
            <a:r>
              <a:rPr lang="de-DE" dirty="0" err="1"/>
              <a:t>Extensions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coder</a:t>
            </a:r>
            <a:r>
              <a:rPr lang="de-DE" dirty="0"/>
              <a:t>/code-server kann einfach </a:t>
            </a:r>
            <a:r>
              <a:rPr lang="de-DE" dirty="0" err="1"/>
              <a:t>gehosted</a:t>
            </a:r>
            <a:r>
              <a:rPr lang="de-DE" dirty="0"/>
              <a:t> werden um eine Web IDE bereit zustellen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IDEE: </a:t>
            </a:r>
            <a:r>
              <a:rPr lang="de-DE" dirty="0" err="1"/>
              <a:t>vscode</a:t>
            </a:r>
            <a:r>
              <a:rPr lang="de-DE" dirty="0"/>
              <a:t> </a:t>
            </a:r>
            <a:r>
              <a:rPr lang="de-DE" dirty="0" err="1"/>
              <a:t>extension</a:t>
            </a:r>
            <a:r>
              <a:rPr lang="de-DE" dirty="0"/>
              <a:t> zum </a:t>
            </a:r>
            <a:r>
              <a:rPr lang="de-DE" dirty="0" err="1"/>
              <a:t>flashen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wird mit </a:t>
            </a:r>
            <a:r>
              <a:rPr lang="de-DE" dirty="0" err="1"/>
              <a:t>website</a:t>
            </a:r>
            <a:r>
              <a:rPr lang="de-DE" dirty="0"/>
              <a:t> mitgeliefert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geräteverwaltung</a:t>
            </a:r>
            <a:r>
              <a:rPr lang="de-DE" dirty="0"/>
              <a:t> und </a:t>
            </a:r>
            <a:r>
              <a:rPr lang="de-DE" dirty="0" err="1"/>
              <a:t>flashen</a:t>
            </a:r>
            <a:r>
              <a:rPr lang="de-DE" dirty="0"/>
              <a:t> integriert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in Kontrast zu anderen </a:t>
            </a:r>
            <a:r>
              <a:rPr lang="de-DE" dirty="0" err="1"/>
              <a:t>Flasher</a:t>
            </a:r>
            <a:r>
              <a:rPr lang="de-DE" dirty="0"/>
              <a:t> Websites -&gt; seinen code direkt </a:t>
            </a:r>
            <a:r>
              <a:rPr lang="de-DE" dirty="0" err="1"/>
              <a:t>builden</a:t>
            </a:r>
            <a:r>
              <a:rPr lang="de-DE" dirty="0"/>
              <a:t> und </a:t>
            </a:r>
            <a:r>
              <a:rPr lang="de-DE" dirty="0" err="1"/>
              <a:t>flashen</a:t>
            </a:r>
            <a:r>
              <a:rPr lang="de-DE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8D8344-AA30-ABA3-A9B9-B40D427EE69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380744-32DE-C7ED-5F85-E1FF5C54B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4228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editor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dev</a:t>
            </a:r>
            <a:r>
              <a:rPr lang="de-DE" dirty="0"/>
              <a:t> </a:t>
            </a:r>
            <a:r>
              <a:rPr lang="de-DE" dirty="0" err="1"/>
              <a:t>env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device</a:t>
            </a:r>
            <a:r>
              <a:rPr lang="de-DE" dirty="0"/>
              <a:t> </a:t>
            </a:r>
            <a:r>
              <a:rPr lang="de-DE" dirty="0" err="1"/>
              <a:t>list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RIOT native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18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frontend:</a:t>
            </a:r>
          </a:p>
          <a:p>
            <a:pPr marL="628650" lvl="1" indent="-171450">
              <a:buFontTx/>
              <a:buChar char="-"/>
            </a:pPr>
            <a:r>
              <a:rPr lang="de-DE" dirty="0" err="1"/>
              <a:t>Vsccode</a:t>
            </a:r>
            <a:r>
              <a:rPr lang="de-DE" dirty="0"/>
              <a:t> ext</a:t>
            </a:r>
          </a:p>
          <a:p>
            <a:pPr marL="628650" lvl="1" indent="-171450">
              <a:buFontTx/>
              <a:buChar char="-"/>
            </a:pPr>
            <a:r>
              <a:rPr lang="de-DE" dirty="0" err="1"/>
              <a:t>Commadlines</a:t>
            </a:r>
            <a:endParaRPr lang="de-DE" dirty="0"/>
          </a:p>
          <a:p>
            <a:pPr marL="171450" lvl="0" indent="-171450">
              <a:buFontTx/>
              <a:buChar char="-"/>
            </a:pPr>
            <a:endParaRPr lang="de-DE" dirty="0"/>
          </a:p>
          <a:p>
            <a:pPr marL="171450" lvl="0" indent="-171450">
              <a:buFontTx/>
              <a:buChar char="-"/>
            </a:pPr>
            <a:r>
              <a:rPr lang="de-DE" dirty="0"/>
              <a:t>backend:</a:t>
            </a:r>
          </a:p>
          <a:p>
            <a:pPr marL="628650" lvl="1" indent="-171450">
              <a:buFontTx/>
              <a:buChar char="-"/>
            </a:pPr>
            <a:r>
              <a:rPr lang="de-DE" dirty="0"/>
              <a:t>code-server</a:t>
            </a:r>
          </a:p>
          <a:p>
            <a:pPr marL="628650" lvl="1" indent="-171450">
              <a:buFontTx/>
              <a:buChar char="-"/>
            </a:pPr>
            <a:r>
              <a:rPr lang="de-DE" dirty="0" err="1"/>
              <a:t>nutzer</a:t>
            </a:r>
            <a:r>
              <a:rPr lang="de-DE" dirty="0"/>
              <a:t> input in cli</a:t>
            </a:r>
          </a:p>
          <a:p>
            <a:pPr marL="628650" lvl="1" indent="-171450">
              <a:buFontTx/>
              <a:buChar char="-"/>
            </a:pPr>
            <a:r>
              <a:rPr lang="de-DE" dirty="0"/>
              <a:t>viele CLIs – eine </a:t>
            </a:r>
            <a:r>
              <a:rPr lang="de-DE" dirty="0" err="1"/>
              <a:t>extension</a:t>
            </a:r>
            <a:r>
              <a:rPr lang="de-DE" dirty="0"/>
              <a:t> -&gt; </a:t>
            </a:r>
            <a:r>
              <a:rPr lang="de-DE" dirty="0" err="1"/>
              <a:t>relay</a:t>
            </a:r>
            <a:r>
              <a:rPr lang="de-DE" dirty="0"/>
              <a:t> (EINE CONNECTION, zentraler host)</a:t>
            </a:r>
          </a:p>
          <a:p>
            <a:pPr marL="628650" lvl="1" indent="-171450">
              <a:buFontTx/>
              <a:buChar char="-"/>
            </a:pPr>
            <a:r>
              <a:rPr lang="de-DE" dirty="0"/>
              <a:t>erlaubt </a:t>
            </a:r>
            <a:r>
              <a:rPr lang="de-DE" dirty="0" err="1"/>
              <a:t>buttons</a:t>
            </a:r>
            <a:r>
              <a:rPr lang="de-DE" dirty="0"/>
              <a:t> -&gt;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shortcut</a:t>
            </a:r>
            <a:r>
              <a:rPr lang="de-DE" dirty="0"/>
              <a:t> -&gt; </a:t>
            </a:r>
            <a:r>
              <a:rPr lang="de-DE" dirty="0" err="1"/>
              <a:t>command</a:t>
            </a:r>
            <a:r>
              <a:rPr lang="de-DE" dirty="0"/>
              <a:t> sichtbar</a:t>
            </a:r>
          </a:p>
          <a:p>
            <a:pPr marL="628650" lvl="1" indent="-171450">
              <a:buFontTx/>
              <a:buChar char="-"/>
            </a:pPr>
            <a:endParaRPr lang="de-DE" dirty="0"/>
          </a:p>
          <a:p>
            <a:pPr marL="628650" lvl="1" indent="-171450">
              <a:buFontTx/>
              <a:buChar char="-"/>
            </a:pPr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740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Requirements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Mischung: Human + </a:t>
            </a:r>
            <a:r>
              <a:rPr lang="de-DE" dirty="0" err="1"/>
              <a:t>compakt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mehrere </a:t>
            </a:r>
            <a:r>
              <a:rPr lang="de-DE" dirty="0" err="1"/>
              <a:t>geräte</a:t>
            </a:r>
            <a:r>
              <a:rPr lang="de-DE" dirty="0"/>
              <a:t>, mehrere </a:t>
            </a:r>
            <a:r>
              <a:rPr lang="de-DE" dirty="0" err="1"/>
              <a:t>shells</a:t>
            </a:r>
            <a:r>
              <a:rPr lang="de-DE" dirty="0"/>
              <a:t> -&gt; parallel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stateful</a:t>
            </a:r>
            <a:r>
              <a:rPr lang="de-DE" dirty="0"/>
              <a:t> -&gt; WS + registrieren </a:t>
            </a:r>
            <a:r>
              <a:rPr lang="de-DE" dirty="0" err="1"/>
              <a:t>Addressen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Struktur:</a:t>
            </a:r>
          </a:p>
          <a:p>
            <a:pPr marL="628650" lvl="1" indent="-171450">
              <a:buFontTx/>
              <a:buChar char="-"/>
            </a:pPr>
            <a:r>
              <a:rPr lang="de-DE" dirty="0"/>
              <a:t>typ</a:t>
            </a:r>
          </a:p>
          <a:p>
            <a:pPr marL="628650" lvl="1" indent="-171450">
              <a:buFontTx/>
              <a:buChar char="-"/>
            </a:pPr>
            <a:r>
              <a:rPr lang="de-DE" dirty="0" err="1"/>
              <a:t>sender</a:t>
            </a:r>
            <a:endParaRPr lang="de-DE" dirty="0"/>
          </a:p>
          <a:p>
            <a:pPr marL="628650" lvl="1" indent="-171450">
              <a:buFontTx/>
              <a:buChar char="-"/>
            </a:pPr>
            <a:r>
              <a:rPr lang="de-DE" dirty="0" err="1"/>
              <a:t>empfänger</a:t>
            </a:r>
            <a:endParaRPr lang="de-DE" dirty="0"/>
          </a:p>
          <a:p>
            <a:pPr marL="628650" lvl="1" indent="-171450">
              <a:buFontTx/>
              <a:buChar char="-"/>
            </a:pPr>
            <a:r>
              <a:rPr lang="de-DE" dirty="0" err="1"/>
              <a:t>payload</a:t>
            </a:r>
            <a:r>
              <a:rPr lang="de-DE" dirty="0"/>
              <a:t> </a:t>
            </a:r>
            <a:r>
              <a:rPr lang="de-DE" dirty="0" err="1"/>
              <a:t>felder</a:t>
            </a:r>
            <a:endParaRPr lang="de-DE" dirty="0"/>
          </a:p>
          <a:p>
            <a:pPr marL="1085850" lvl="2" indent="-171450">
              <a:buFontTx/>
              <a:buChar char="-"/>
            </a:pPr>
            <a:r>
              <a:rPr lang="de-DE" dirty="0"/>
              <a:t>hier </a:t>
            </a:r>
            <a:r>
              <a:rPr lang="de-DE" dirty="0" err="1"/>
              <a:t>Flashcommand</a:t>
            </a:r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481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Gerätezugriff durch Web APIs ist erschwert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VSCode</a:t>
            </a:r>
            <a:r>
              <a:rPr lang="de-DE" dirty="0"/>
              <a:t> Web </a:t>
            </a:r>
            <a:r>
              <a:rPr lang="de-DE" dirty="0" err="1"/>
              <a:t>Extensions</a:t>
            </a:r>
            <a:r>
              <a:rPr lang="de-DE" dirty="0"/>
              <a:t> an vielen Punkten (aus Sicherheitsgründen) beschränkt</a:t>
            </a:r>
          </a:p>
          <a:p>
            <a:pPr marL="171450" indent="-171450">
              <a:buFontTx/>
              <a:buChar char="-"/>
            </a:pPr>
            <a:r>
              <a:rPr lang="de-DE" dirty="0"/>
              <a:t>Neue Geräte müssen manuell eingebaut werden -&gt; </a:t>
            </a:r>
            <a:r>
              <a:rPr lang="de-DE" dirty="0" err="1"/>
              <a:t>flasher</a:t>
            </a:r>
            <a:r>
              <a:rPr lang="de-DE" dirty="0"/>
              <a:t> + </a:t>
            </a:r>
            <a:r>
              <a:rPr lang="de-DE" dirty="0" err="1"/>
              <a:t>make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Treiber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26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default</a:t>
            </a:r>
            <a:r>
              <a:rPr lang="de-DE" dirty="0"/>
              <a:t> </a:t>
            </a:r>
            <a:r>
              <a:rPr lang="de-DE" dirty="0" err="1"/>
              <a:t>workspace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open </a:t>
            </a:r>
            <a:r>
              <a:rPr lang="de-DE" dirty="0" err="1"/>
              <a:t>shell</a:t>
            </a:r>
            <a:r>
              <a:rPr lang="de-DE" dirty="0"/>
              <a:t> </a:t>
            </a:r>
            <a:r>
              <a:rPr lang="de-DE" dirty="0" err="1"/>
              <a:t>project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add</a:t>
            </a:r>
            <a:r>
              <a:rPr lang="de-DE" dirty="0"/>
              <a:t> esp32 (</a:t>
            </a:r>
            <a:r>
              <a:rPr lang="de-DE" dirty="0" err="1"/>
              <a:t>hello</a:t>
            </a:r>
            <a:r>
              <a:rPr lang="de-DE" dirty="0"/>
              <a:t> </a:t>
            </a:r>
            <a:r>
              <a:rPr lang="de-DE" dirty="0" err="1"/>
              <a:t>world</a:t>
            </a:r>
            <a:r>
              <a:rPr lang="de-DE" dirty="0"/>
              <a:t>)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flash</a:t>
            </a:r>
            <a:r>
              <a:rPr lang="de-DE" dirty="0"/>
              <a:t> esp32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term</a:t>
            </a:r>
            <a:r>
              <a:rPr lang="de-DE" dirty="0"/>
              <a:t> (offen)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adafruit</a:t>
            </a:r>
            <a:r>
              <a:rPr lang="de-DE" dirty="0"/>
              <a:t> (</a:t>
            </a:r>
            <a:r>
              <a:rPr lang="de-DE" dirty="0" err="1"/>
              <a:t>shell</a:t>
            </a:r>
            <a:r>
              <a:rPr lang="de-DE" dirty="0"/>
              <a:t>)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flash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term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cd </a:t>
            </a:r>
            <a:r>
              <a:rPr lang="de-DE" dirty="0" err="1"/>
              <a:t>timer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keyup</a:t>
            </a:r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879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993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899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988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2.svg"/><Relationship Id="rId4" Type="http://schemas.openxmlformats.org/officeDocument/2006/relationships/image" Target="../media/image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UD Standard_20 p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 Schriftgröße 32pt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599" y="1736725"/>
            <a:ext cx="10972801" cy="410527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</a:lstStyle>
          <a:p>
            <a:pPr lvl="0"/>
            <a:r>
              <a:rPr lang="de-DE" dirty="0"/>
              <a:t>Mastertextformat Schriftgröße 20pt</a:t>
            </a:r>
            <a:br>
              <a:rPr lang="de-DE" dirty="0"/>
            </a:br>
            <a:r>
              <a:rPr lang="de-DE" dirty="0"/>
              <a:t>(Kann vergrößert werden auf 24pt, Minimum Schriftgröße 16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 Schriftgrößen wurde in folgenden Räumen getestet</a:t>
            </a:r>
          </a:p>
          <a:p>
            <a:pPr lvl="2"/>
            <a:r>
              <a:rPr lang="de-DE" dirty="0"/>
              <a:t>HSZ Audimax</a:t>
            </a:r>
          </a:p>
          <a:p>
            <a:pPr lvl="2"/>
            <a:r>
              <a:rPr lang="de-DE" dirty="0"/>
              <a:t>HSZ Hörsaal 3</a:t>
            </a:r>
          </a:p>
          <a:p>
            <a:pPr lvl="2"/>
            <a:r>
              <a:rPr lang="de-DE" dirty="0"/>
              <a:t>HSZ Seminarraum klein</a:t>
            </a:r>
          </a:p>
          <a:p>
            <a:pPr lvl="1"/>
            <a:r>
              <a:rPr lang="de-DE" dirty="0"/>
              <a:t>In allen drei Räumen ist 20 und 24 </a:t>
            </a:r>
            <a:r>
              <a:rPr lang="de-DE" dirty="0" err="1"/>
              <a:t>pt</a:t>
            </a:r>
            <a:r>
              <a:rPr lang="de-DE" dirty="0"/>
              <a:t> gut lesbar. Im </a:t>
            </a:r>
            <a:r>
              <a:rPr lang="de-DE" dirty="0" err="1"/>
              <a:t>Seminaraum</a:t>
            </a:r>
            <a:r>
              <a:rPr lang="de-DE" dirty="0"/>
              <a:t> ist 16 </a:t>
            </a:r>
            <a:r>
              <a:rPr lang="de-DE" dirty="0" err="1"/>
              <a:t>pt</a:t>
            </a:r>
            <a:r>
              <a:rPr lang="de-DE" dirty="0"/>
              <a:t> grenzwertig klein.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E97365-2970-48C5-8643-B05B104BD1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8075614" y="6057900"/>
            <a:ext cx="3506786" cy="39528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Platz für Zweitlogos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71FF40-B767-4E15-B8F5-6DAC252E9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052513"/>
            <a:ext cx="12192000" cy="684212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7D106F-3835-4287-88EB-AAAD315A8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42000"/>
            <a:ext cx="12192000" cy="215900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325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8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645A5-8081-48C3-B5F8-643B270F4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AE3C1A-CB2F-4CD1-90ED-300793F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FD2337E2-6B3B-430B-8F0C-236691AFA7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6156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3AC041-1A6E-42F5-81A2-02C98A0F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DA15133A-699F-4D35-8F40-4E67A2D2C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1"/>
            <a:ext cx="1980000" cy="660000"/>
          </a:xfrm>
          <a:prstGeom prst="rect">
            <a:avLst/>
          </a:prstGeom>
        </p:spPr>
      </p:pic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BF6A3ED-341B-442E-8210-E4319907CA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rgbClr val="00008C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693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4560104"/>
            <a:ext cx="7250113" cy="12818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094696"/>
            <a:ext cx="7250113" cy="1123950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73381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579EDF-77CB-4860-8B94-3DF47A80CB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2609850"/>
            <a:ext cx="7250113" cy="301544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6"/>
            <a:ext cx="7250113" cy="539750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94302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2488013"/>
            <a:ext cx="7250113" cy="3137283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390651"/>
            <a:ext cx="7250113" cy="77152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42026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2800350"/>
            <a:ext cx="6315074" cy="2449174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41089"/>
            <a:ext cx="7250113" cy="77152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89954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962400"/>
            <a:ext cx="10972800" cy="1662895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37490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82760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716338"/>
            <a:ext cx="10972800" cy="1908957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08915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43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716338"/>
            <a:ext cx="10972800" cy="1908957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08915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2650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 mit Bild_in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729833"/>
            <a:ext cx="8487697" cy="8933116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085D84F3-0188-409A-9BD3-30A16A8588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4608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62475" y="-1"/>
            <a:ext cx="11220449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C08A1F-7110-46BF-80E3-5D4C853782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2979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_mit_Bild_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9666" y="-23814"/>
            <a:ext cx="8836004" cy="694097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0 h 6858000"/>
              <a:gd name="connsiteX1" fmla="*/ 7251700 w 12192000"/>
              <a:gd name="connsiteY1" fmla="*/ 1270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7785100"/>
              <a:gd name="connsiteY0" fmla="*/ 0 h 6858000"/>
              <a:gd name="connsiteX1" fmla="*/ 7251700 w 7785100"/>
              <a:gd name="connsiteY1" fmla="*/ 12700 h 6858000"/>
              <a:gd name="connsiteX2" fmla="*/ 7785100 w 7785100"/>
              <a:gd name="connsiteY2" fmla="*/ 6832600 h 6858000"/>
              <a:gd name="connsiteX3" fmla="*/ 0 w 7785100"/>
              <a:gd name="connsiteY3" fmla="*/ 6858000 h 6858000"/>
              <a:gd name="connsiteX4" fmla="*/ 0 w 7785100"/>
              <a:gd name="connsiteY4" fmla="*/ 0 h 6858000"/>
              <a:gd name="connsiteX0" fmla="*/ 0 w 8682083"/>
              <a:gd name="connsiteY0" fmla="*/ 0 h 6858000"/>
              <a:gd name="connsiteX1" fmla="*/ 8148683 w 8682083"/>
              <a:gd name="connsiteY1" fmla="*/ 12700 h 6858000"/>
              <a:gd name="connsiteX2" fmla="*/ 8682083 w 8682083"/>
              <a:gd name="connsiteY2" fmla="*/ 6832600 h 6858000"/>
              <a:gd name="connsiteX3" fmla="*/ 896983 w 8682083"/>
              <a:gd name="connsiteY3" fmla="*/ 6858000 h 6858000"/>
              <a:gd name="connsiteX4" fmla="*/ 0 w 8682083"/>
              <a:gd name="connsiteY4" fmla="*/ 0 h 6858000"/>
              <a:gd name="connsiteX0" fmla="*/ 26126 w 8708209"/>
              <a:gd name="connsiteY0" fmla="*/ 0 h 6840583"/>
              <a:gd name="connsiteX1" fmla="*/ 8174809 w 8708209"/>
              <a:gd name="connsiteY1" fmla="*/ 12700 h 6840583"/>
              <a:gd name="connsiteX2" fmla="*/ 8708209 w 8708209"/>
              <a:gd name="connsiteY2" fmla="*/ 6832600 h 6840583"/>
              <a:gd name="connsiteX3" fmla="*/ 0 w 8708209"/>
              <a:gd name="connsiteY3" fmla="*/ 6840583 h 6840583"/>
              <a:gd name="connsiteX4" fmla="*/ 26126 w 8708209"/>
              <a:gd name="connsiteY4" fmla="*/ 0 h 6840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08209" h="6840583">
                <a:moveTo>
                  <a:pt x="26126" y="0"/>
                </a:moveTo>
                <a:lnTo>
                  <a:pt x="8174809" y="12700"/>
                </a:lnTo>
                <a:lnTo>
                  <a:pt x="8708209" y="6832600"/>
                </a:lnTo>
                <a:lnTo>
                  <a:pt x="0" y="6840583"/>
                </a:lnTo>
                <a:cubicBezTo>
                  <a:pt x="8709" y="4560389"/>
                  <a:pt x="17417" y="2280194"/>
                  <a:pt x="26126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   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3429000"/>
            <a:ext cx="6530975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" y="1736725"/>
            <a:ext cx="6315075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254875" y="-1"/>
            <a:ext cx="4937125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C08A1F-7110-46BF-80E3-5D4C853782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6530975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72899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5632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05E3CC9-E682-422B-B7B9-2A2A3E013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518822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6"/>
            <a:ext cx="5378450" cy="3887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2538BF5-19DF-4B5C-80A3-4548339C13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03951" y="404813"/>
            <a:ext cx="5378450" cy="52197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BE6F2D-5EC5-4864-A9A0-FC3ECA391A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5624513"/>
            <a:ext cx="5378449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2380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1736725"/>
            <a:ext cx="3516313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1736724"/>
            <a:ext cx="3506787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35066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3506788" cy="27550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3506788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404814"/>
            <a:ext cx="3516313" cy="27550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43399" y="3429000"/>
            <a:ext cx="3516313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2925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404813"/>
            <a:ext cx="3506787" cy="27550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6FE31676-EF83-4ECE-8009-0FC4D5A718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75613" y="3429000"/>
            <a:ext cx="3506787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4BDBAA4-F784-4AF6-8050-D275CB31D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75612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0324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2606675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1736725"/>
            <a:ext cx="2592387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1736724"/>
            <a:ext cx="2592388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1736724"/>
            <a:ext cx="2606675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718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404813"/>
            <a:ext cx="2606675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6F1AB9C3-872C-41DD-AAFB-12824DBEE81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599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9E05B2F-0577-47C9-8146-C4868416C5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1" y="5624513"/>
            <a:ext cx="2606674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404813"/>
            <a:ext cx="2592387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9EF6DC9D-F43A-4B05-BC55-F3417C310F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5663" y="3429000"/>
            <a:ext cx="2592387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9C69ADDD-319E-4394-8BC9-FC045CE072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95663" y="5624513"/>
            <a:ext cx="2592387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404812"/>
            <a:ext cx="2592388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D28AB6FB-FFC3-4AE6-90AB-D58E7C728B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49" y="3429000"/>
            <a:ext cx="2592388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44C123A-AE63-4AD9-ACB1-ADF4103150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404812"/>
            <a:ext cx="2606675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F80E9119-D6F6-4FA2-9F16-025406D0F8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75725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55313796-962D-4CF1-AC12-A82B830904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90012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6663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D54C4-ACE0-4B7B-B43C-B80F732E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1816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4271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D0AE451-788D-480F-872A-9EB3DCE41B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6057900"/>
            <a:ext cx="5378450" cy="44158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0536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648956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417381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3CC3083-A26C-4FFF-ABB9-A52A975CA5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88050" y="0"/>
            <a:ext cx="6203950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508875" cy="6858000"/>
          </a:xfrm>
          <a:custGeom>
            <a:avLst/>
            <a:gdLst>
              <a:gd name="connsiteX0" fmla="*/ 0 w 6924675"/>
              <a:gd name="connsiteY0" fmla="*/ 0 h 6858000"/>
              <a:gd name="connsiteX1" fmla="*/ 692467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6924675"/>
              <a:gd name="connsiteY0" fmla="*/ 0 h 6858000"/>
              <a:gd name="connsiteX1" fmla="*/ 568642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6924675"/>
              <a:gd name="connsiteY0" fmla="*/ 0 h 6858000"/>
              <a:gd name="connsiteX1" fmla="*/ 628332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7508875"/>
              <a:gd name="connsiteY0" fmla="*/ 0 h 6858000"/>
              <a:gd name="connsiteX1" fmla="*/ 6283325 w 7508875"/>
              <a:gd name="connsiteY1" fmla="*/ 0 h 6858000"/>
              <a:gd name="connsiteX2" fmla="*/ 7508875 w 7508875"/>
              <a:gd name="connsiteY2" fmla="*/ 6858000 h 6858000"/>
              <a:gd name="connsiteX3" fmla="*/ 0 w 7508875"/>
              <a:gd name="connsiteY3" fmla="*/ 6858000 h 6858000"/>
              <a:gd name="connsiteX4" fmla="*/ 0 w 750887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8875" h="6858000">
                <a:moveTo>
                  <a:pt x="0" y="0"/>
                </a:moveTo>
                <a:lnTo>
                  <a:pt x="6283325" y="0"/>
                </a:lnTo>
                <a:lnTo>
                  <a:pt x="75088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2268539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5378450" cy="2700338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67086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863601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6D9D1B83-BB64-4D87-85E3-7B792A9EDEC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537398"/>
            <a:ext cx="13780478" cy="14516845"/>
          </a:xfrm>
          <a:custGeom>
            <a:avLst/>
            <a:gdLst>
              <a:gd name="connsiteX0" fmla="*/ 6162192 w 13780478"/>
              <a:gd name="connsiteY0" fmla="*/ 0 h 14516845"/>
              <a:gd name="connsiteX1" fmla="*/ 12500658 w 13780478"/>
              <a:gd name="connsiteY1" fmla="*/ 0 h 14516845"/>
              <a:gd name="connsiteX2" fmla="*/ 13780478 w 13780478"/>
              <a:gd name="connsiteY2" fmla="*/ 7258316 h 14516845"/>
              <a:gd name="connsiteX3" fmla="*/ 7258530 w 13780478"/>
              <a:gd name="connsiteY3" fmla="*/ 7258316 h 14516845"/>
              <a:gd name="connsiteX4" fmla="*/ 0 w 13780478"/>
              <a:gd name="connsiteY4" fmla="*/ 14516845 h 14516845"/>
              <a:gd name="connsiteX5" fmla="*/ 212 w 13780478"/>
              <a:gd name="connsiteY5" fmla="*/ 6162191 h 1451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80478" h="14516845">
                <a:moveTo>
                  <a:pt x="6162192" y="0"/>
                </a:moveTo>
                <a:lnTo>
                  <a:pt x="12500658" y="0"/>
                </a:lnTo>
                <a:lnTo>
                  <a:pt x="13780478" y="7258316"/>
                </a:lnTo>
                <a:lnTo>
                  <a:pt x="7258530" y="7258316"/>
                </a:lnTo>
                <a:lnTo>
                  <a:pt x="0" y="14516845"/>
                </a:lnTo>
                <a:lnTo>
                  <a:pt x="212" y="6162191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2595084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Farb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" y="2461846"/>
            <a:ext cx="3506789" cy="1254492"/>
          </a:xfrm>
          <a:prstGeom prst="rect">
            <a:avLst/>
          </a:prstGeom>
        </p:spPr>
        <p:txBody>
          <a:bodyPr anchor="t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26D725AF-5383-4E5D-A2D3-3FABBEC0B6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768456" y="-9550923"/>
            <a:ext cx="13977778" cy="25385171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753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>
            <a:extLst>
              <a:ext uri="{FF2B5EF4-FFF2-40B4-BE49-F238E27FC236}">
                <a16:creationId xmlns:a16="http://schemas.microsoft.com/office/drawing/2014/main" id="{2664A485-C158-4BFC-B46D-7201DF28B9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1613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79737FE-1C79-470F-BA5B-0406C5992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061B13-C907-4A87-B55A-8284A73D5D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200" i="1" dirty="0">
                <a:solidFill>
                  <a:schemeClr val="bg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048EAF-9787-48D5-83DB-543645FD8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56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itat_Farb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4E10E8-4BB9-460B-9BDB-62195F7C8E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C75E21A-6BBF-4B32-A70F-301838EEE2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537845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624512"/>
            <a:ext cx="5378450" cy="433387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5A73340-69A4-498B-8B80-80BE3D077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B2E58B-9728-4374-A113-BCFD69F635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15598" y="-4693921"/>
            <a:ext cx="10770898" cy="19561127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53071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7056120"/>
            <a:ext cx="23070503" cy="230705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2997200"/>
            <a:ext cx="10972800" cy="719138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1" y="4297679"/>
            <a:ext cx="10972800" cy="1544321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790176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158240" y="-6925627"/>
            <a:ext cx="14660880" cy="146608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D88D79D-95E0-48C6-B019-1226D5FFE8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1F6757A7-BF21-40B3-87C7-F536EB12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A27A73C-FDCC-408D-8A9B-5EBAC19162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49373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69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" name="Grafik 7">
            <a:extLst>
              <a:ext uri="{FF2B5EF4-FFF2-40B4-BE49-F238E27FC236}">
                <a16:creationId xmlns:a16="http://schemas.microsoft.com/office/drawing/2014/main" id="{ACAEB40F-408E-4739-B8F1-87C3D3468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-5498743" y="-5465484"/>
            <a:ext cx="17788812" cy="17788968"/>
            <a:chOff x="-14264640" y="-3715061"/>
            <a:chExt cx="22488583" cy="22488781"/>
          </a:xfrm>
          <a:solidFill>
            <a:schemeClr val="accent2"/>
          </a:solidFill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195269A-E3C2-4E88-93E3-F49E631252D9}"/>
                </a:ext>
              </a:extLst>
            </p:cNvPr>
            <p:cNvSpPr/>
            <p:nvPr/>
          </p:nvSpPr>
          <p:spPr>
            <a:xfrm>
              <a:off x="-7293192" y="-3715061"/>
              <a:ext cx="15517136" cy="14730115"/>
            </a:xfrm>
            <a:custGeom>
              <a:avLst/>
              <a:gdLst>
                <a:gd name="connsiteX0" fmla="*/ 15517137 w 15517136"/>
                <a:gd name="connsiteY0" fmla="*/ 13362007 h 14730115"/>
                <a:gd name="connsiteX1" fmla="*/ 7758668 w 15517136"/>
                <a:gd name="connsiteY1" fmla="*/ 14730115 h 14730115"/>
                <a:gd name="connsiteX2" fmla="*/ 7758668 w 15517136"/>
                <a:gd name="connsiteY2" fmla="*/ 7758667 h 14730115"/>
                <a:gd name="connsiteX3" fmla="*/ 0 w 15517136"/>
                <a:gd name="connsiteY3" fmla="*/ 0 h 14730115"/>
                <a:gd name="connsiteX4" fmla="*/ 8930316 w 15517136"/>
                <a:gd name="connsiteY4" fmla="*/ 198 h 14730115"/>
                <a:gd name="connsiteX5" fmla="*/ 15517137 w 15517136"/>
                <a:gd name="connsiteY5" fmla="*/ 6586821 h 14730115"/>
                <a:gd name="connsiteX6" fmla="*/ 15517137 w 15517136"/>
                <a:gd name="connsiteY6" fmla="*/ 13362007 h 14730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136" h="14730115">
                  <a:moveTo>
                    <a:pt x="15517137" y="13362007"/>
                  </a:moveTo>
                  <a:lnTo>
                    <a:pt x="7758668" y="14730115"/>
                  </a:lnTo>
                  <a:lnTo>
                    <a:pt x="7758668" y="7758667"/>
                  </a:lnTo>
                  <a:lnTo>
                    <a:pt x="0" y="0"/>
                  </a:lnTo>
                  <a:lnTo>
                    <a:pt x="8930316" y="198"/>
                  </a:lnTo>
                  <a:lnTo>
                    <a:pt x="15517137" y="6586821"/>
                  </a:lnTo>
                  <a:lnTo>
                    <a:pt x="15517137" y="13362007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539E4E4-5E00-4985-8757-11EFDE979DB4}"/>
                </a:ext>
              </a:extLst>
            </p:cNvPr>
            <p:cNvSpPr/>
            <p:nvPr/>
          </p:nvSpPr>
          <p:spPr>
            <a:xfrm>
              <a:off x="-14264640" y="4043604"/>
              <a:ext cx="15517334" cy="14730114"/>
            </a:xfrm>
            <a:custGeom>
              <a:avLst/>
              <a:gdLst>
                <a:gd name="connsiteX0" fmla="*/ 0 w 15517334"/>
                <a:gd name="connsiteY0" fmla="*/ 1368109 h 14730114"/>
                <a:gd name="connsiteX1" fmla="*/ 7758470 w 15517334"/>
                <a:gd name="connsiteY1" fmla="*/ 0 h 14730114"/>
                <a:gd name="connsiteX2" fmla="*/ 7758470 w 15517334"/>
                <a:gd name="connsiteY2" fmla="*/ 6971449 h 14730114"/>
                <a:gd name="connsiteX3" fmla="*/ 15517335 w 15517334"/>
                <a:gd name="connsiteY3" fmla="*/ 14730115 h 14730114"/>
                <a:gd name="connsiteX4" fmla="*/ 6586822 w 15517334"/>
                <a:gd name="connsiteY4" fmla="*/ 14730115 h 14730114"/>
                <a:gd name="connsiteX5" fmla="*/ 0 w 15517334"/>
                <a:gd name="connsiteY5" fmla="*/ 8143294 h 14730114"/>
                <a:gd name="connsiteX6" fmla="*/ 0 w 15517334"/>
                <a:gd name="connsiteY6" fmla="*/ 1368109 h 14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334" h="14730114">
                  <a:moveTo>
                    <a:pt x="0" y="1368109"/>
                  </a:moveTo>
                  <a:lnTo>
                    <a:pt x="7758470" y="0"/>
                  </a:lnTo>
                  <a:lnTo>
                    <a:pt x="7758470" y="6971449"/>
                  </a:lnTo>
                  <a:lnTo>
                    <a:pt x="15517335" y="14730115"/>
                  </a:lnTo>
                  <a:lnTo>
                    <a:pt x="6586822" y="14730115"/>
                  </a:lnTo>
                  <a:lnTo>
                    <a:pt x="0" y="8143294"/>
                  </a:lnTo>
                  <a:lnTo>
                    <a:pt x="0" y="1368109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599" y="1052513"/>
            <a:ext cx="7250113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599" y="2286952"/>
            <a:ext cx="7250113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965121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B1607CC-7926-42F8-A9D4-9EB30CCC4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4874240" y="-12475330"/>
            <a:ext cx="44978353" cy="318086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600" y="1052513"/>
            <a:ext cx="4441826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600" y="2286952"/>
            <a:ext cx="4441826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D72FC72-0865-4AAF-8322-C3045B84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003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8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26BB01A-29ED-4144-A31A-DD51B5606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445953" y="-7589795"/>
            <a:ext cx="39323474" cy="233685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52513"/>
            <a:ext cx="53340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5334000" cy="108965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077647-9C5F-4C27-93BC-289003A54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642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AAA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A585B0F-EAE3-4972-B2DD-61B691A3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568399" y="-22289839"/>
            <a:ext cx="37239647" cy="5396725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53F19BAF-18FD-44C8-85CA-F8853215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7CA3D32E-E2F8-4C0E-AF41-451C832967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A0901FF-14F3-43C6-9205-4A412557C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8294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BB6767-F2B8-4BAA-BF07-3F9A160B3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484427" y="-5069549"/>
            <a:ext cx="18380919" cy="182111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5"/>
            <a:ext cx="10972800" cy="914400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107565"/>
            <a:ext cx="10972800" cy="87376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61879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9BDB7B-ED04-48F9-A597-5D65D94A3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-4760594" y="-4145914"/>
            <a:ext cx="17099914" cy="17099914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61728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AD44A7-FBE6-494B-B2A9-85542E1AE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2633468" y="-5918273"/>
            <a:ext cx="18354113" cy="18354113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1CBF57BC-B38C-414F-92BB-F40579F88EE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B2B44DCF-A510-4A00-82ED-05FBF8B59E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16388" y="6207760"/>
            <a:ext cx="5599112" cy="286068"/>
          </a:xfrm>
        </p:spPr>
        <p:txBody>
          <a:bodyPr anchor="b" anchorCtr="0"/>
          <a:lstStyle>
            <a:lvl1pPr>
              <a:defRPr sz="1200" i="0">
                <a:solidFill>
                  <a:schemeClr val="bg1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804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2FBAC-C92F-4FEA-8170-E94EC94C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500000">
            <a:off x="-4681402" y="-7532589"/>
            <a:ext cx="21582744" cy="21582744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79C7FCDB-8A5F-4D8C-B998-2CC83B8C89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FB4AAEC-A7C5-4365-B424-8E68D40435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8926" y="6177280"/>
            <a:ext cx="5581650" cy="31654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65763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752599"/>
            <a:ext cx="4441825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459102"/>
            <a:ext cx="4441824" cy="138289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7B07D508-A251-41EA-8DE7-63892057591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267325" y="0"/>
            <a:ext cx="10255588" cy="6858000"/>
          </a:xfrm>
          <a:custGeom>
            <a:avLst/>
            <a:gdLst>
              <a:gd name="connsiteX0" fmla="*/ 0 w 10255588"/>
              <a:gd name="connsiteY0" fmla="*/ 0 h 6858000"/>
              <a:gd name="connsiteX1" fmla="*/ 10255588 w 10255588"/>
              <a:gd name="connsiteY1" fmla="*/ 0 h 6858000"/>
              <a:gd name="connsiteX2" fmla="*/ 10255588 w 10255588"/>
              <a:gd name="connsiteY2" fmla="*/ 6858000 h 6858000"/>
              <a:gd name="connsiteX3" fmla="*/ 1215823 w 102555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55588" h="6858000">
                <a:moveTo>
                  <a:pt x="0" y="0"/>
                </a:moveTo>
                <a:lnTo>
                  <a:pt x="10255588" y="0"/>
                </a:lnTo>
                <a:lnTo>
                  <a:pt x="10255588" y="6858000"/>
                </a:lnTo>
                <a:lnTo>
                  <a:pt x="1215823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5365122-AA94-4D9A-8BDB-BC7E3297F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11" name="Grafik 10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3CEFA202-FC75-4BA0-ACC7-222E3B636ED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165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2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3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2.xml"/><Relationship Id="rId5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41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5E54477-AC5B-4EB3-AE9F-0854A752BD2F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Flashing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RIOT </a:t>
            </a:r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from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a </a:t>
            </a:r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browser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• Fabio </a:t>
            </a:r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Lehmberg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, Jakob Fregin • Seite </a:t>
            </a:r>
            <a:fld id="{BB345A75-B580-4544-AA90-56924E4BB115}" type="slidenum">
              <a:rPr lang="de-DE" sz="1200" kern="1200" smtClean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‹#›</a:t>
            </a:fld>
            <a:endParaRPr lang="en-US" sz="1200" kern="1200" dirty="0">
              <a:solidFill>
                <a:srgbClr val="00008C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15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  <p:sldLayoutId id="2147483705" r:id="rId3"/>
    <p:sldLayoutId id="2147483780" r:id="rId4"/>
    <p:sldLayoutId id="2147483781" r:id="rId5"/>
    <p:sldLayoutId id="2147483782" r:id="rId6"/>
    <p:sldLayoutId id="2147483783" r:id="rId7"/>
    <p:sldLayoutId id="2147483776" r:id="rId8"/>
    <p:sldLayoutId id="2147483784" r:id="rId9"/>
    <p:sldLayoutId id="2147483785" r:id="rId10"/>
    <p:sldLayoutId id="2147483769" r:id="rId11"/>
    <p:sldLayoutId id="2147483778" r:id="rId12"/>
    <p:sldLayoutId id="2147483779" r:id="rId13"/>
    <p:sldLayoutId id="2147483710" r:id="rId14"/>
    <p:sldLayoutId id="2147483652" r:id="rId15"/>
    <p:sldLayoutId id="2147483709" r:id="rId16"/>
    <p:sldLayoutId id="2147483656" r:id="rId17"/>
    <p:sldLayoutId id="2147483665" r:id="rId18"/>
    <p:sldLayoutId id="2147483657" r:id="rId19"/>
    <p:sldLayoutId id="2147483666" r:id="rId20"/>
    <p:sldLayoutId id="2147483654" r:id="rId21"/>
    <p:sldLayoutId id="2147483655" r:id="rId22"/>
    <p:sldLayoutId id="2147483694" r:id="rId23"/>
    <p:sldLayoutId id="2147483695" r:id="rId24"/>
    <p:sldLayoutId id="2147483696" r:id="rId25"/>
    <p:sldLayoutId id="2147483777" r:id="rId26"/>
    <p:sldLayoutId id="2147483771" r:id="rId27"/>
    <p:sldLayoutId id="2147483772" r:id="rId28"/>
    <p:sldLayoutId id="2147483773" r:id="rId29"/>
    <p:sldLayoutId id="2147483775" r:id="rId30"/>
    <p:sldLayoutId id="2147483774" r:id="rId3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  <p15:guide id="36" orient="horz" pos="3543" userDrawn="1">
          <p15:clr>
            <a:srgbClr val="F26B43"/>
          </p15:clr>
        </p15:guide>
        <p15:guide id="37" orient="horz" pos="19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1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06" r:id="rId8"/>
    <p:sldLayoutId id="2147483767" r:id="rId9"/>
    <p:sldLayoutId id="2147483768" r:id="rId10"/>
    <p:sldLayoutId id="21474837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arkolores/RIOT-VS-Code-Extension" TargetMode="External"/><Relationship Id="rId2" Type="http://schemas.openxmlformats.org/officeDocument/2006/relationships/hyperlink" Target="https://github.com/cheater78/RIOT-WebEditor" TargetMode="Externa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Flashing</a:t>
            </a:r>
            <a:r>
              <a:rPr lang="de-DE" dirty="0"/>
              <a:t> RIOT </a:t>
            </a:r>
            <a:r>
              <a:rPr lang="de-DE" dirty="0" err="1"/>
              <a:t>from</a:t>
            </a:r>
            <a:r>
              <a:rPr lang="de-DE" dirty="0"/>
              <a:t> a </a:t>
            </a:r>
            <a:r>
              <a:rPr lang="de-DE" dirty="0" err="1"/>
              <a:t>browser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Presentation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Fabio </a:t>
            </a:r>
            <a:r>
              <a:rPr lang="de-DE" dirty="0" err="1"/>
              <a:t>Lehmberg</a:t>
            </a:r>
            <a:r>
              <a:rPr lang="de-DE" dirty="0"/>
              <a:t> and Jakob Fregin</a:t>
            </a:r>
          </a:p>
          <a:p>
            <a:r>
              <a:rPr lang="de-DE" dirty="0"/>
              <a:t>Dresden, 26.03.2026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3C57DC0-CDAD-4228-BA26-3D1CE1558B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8245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9150F-2A8B-139D-D542-F85CDE5D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7A18229-A82B-F2E0-714C-1B07CE4F8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5829E70D-E692-8B7D-B18A-735FAF455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open a </a:t>
            </a:r>
            <a:r>
              <a:rPr lang="de-DE" dirty="0" err="1"/>
              <a:t>website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RIOT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connect and </a:t>
            </a:r>
            <a:r>
              <a:rPr lang="de-DE" dirty="0" err="1"/>
              <a:t>flash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device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setup</a:t>
            </a:r>
            <a:endParaRPr lang="de-DE" dirty="0"/>
          </a:p>
          <a:p>
            <a:pPr marL="576263" lvl="2" indent="-342900"/>
            <a:r>
              <a:rPr lang="de-DE" dirty="0" err="1"/>
              <a:t>toolchain</a:t>
            </a:r>
            <a:endParaRPr lang="de-DE" dirty="0"/>
          </a:p>
          <a:p>
            <a:pPr marL="576263" lvl="2" indent="-342900"/>
            <a:r>
              <a:rPr lang="de-DE" dirty="0"/>
              <a:t>IDE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platform</a:t>
            </a:r>
            <a:r>
              <a:rPr lang="de-DE" dirty="0"/>
              <a:t> </a:t>
            </a:r>
            <a:r>
              <a:rPr lang="de-DE" dirty="0" err="1"/>
              <a:t>dependecy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3410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3201C-6A4C-B11E-5733-32F93DC3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85FD38C-FF4D-0144-80E2-B54A95B0F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D6677DD-065E-D192-3F32-008DCB502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flash</a:t>
            </a:r>
            <a:r>
              <a:rPr lang="de-DE" dirty="0"/>
              <a:t> RIOT </a:t>
            </a:r>
            <a:r>
              <a:rPr lang="de-DE" dirty="0" err="1"/>
              <a:t>boards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a </a:t>
            </a:r>
            <a:r>
              <a:rPr lang="de-DE" dirty="0" err="1"/>
              <a:t>browser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provide</a:t>
            </a:r>
            <a:r>
              <a:rPr lang="de-DE" dirty="0"/>
              <a:t> a code </a:t>
            </a:r>
            <a:r>
              <a:rPr lang="de-DE" dirty="0" err="1"/>
              <a:t>editor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website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ready</a:t>
            </a:r>
            <a:r>
              <a:rPr lang="de-DE" dirty="0"/>
              <a:t>-to-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environment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ease-of-use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newcomers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keep</a:t>
            </a:r>
            <a:r>
              <a:rPr lang="de-DE" dirty="0"/>
              <a:t> to a RIOT native </a:t>
            </a:r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experience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ease-of-deployment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01687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46C80-217D-0746-95E3-57579B5D3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FC245CA-5C22-61A6-D103-115EB5E03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to </a:t>
            </a:r>
            <a:r>
              <a:rPr lang="de-DE" dirty="0" err="1"/>
              <a:t>flash</a:t>
            </a:r>
            <a:r>
              <a:rPr lang="de-DE" dirty="0"/>
              <a:t> an MCU </a:t>
            </a:r>
            <a:r>
              <a:rPr lang="de-DE" dirty="0" err="1"/>
              <a:t>from</a:t>
            </a:r>
            <a:r>
              <a:rPr lang="de-DE" dirty="0"/>
              <a:t> a </a:t>
            </a:r>
            <a:r>
              <a:rPr lang="de-DE" dirty="0" err="1"/>
              <a:t>browser</a:t>
            </a:r>
            <a:r>
              <a:rPr lang="de-DE" dirty="0"/>
              <a:t>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92FCB59-3EE2-E715-CFAB-FC220E0CBD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APIs: </a:t>
            </a:r>
            <a:r>
              <a:rPr lang="de-DE" dirty="0" err="1"/>
              <a:t>WebUSB</a:t>
            </a:r>
            <a:r>
              <a:rPr lang="de-DE" dirty="0"/>
              <a:t>, </a:t>
            </a:r>
            <a:r>
              <a:rPr lang="de-DE" dirty="0" err="1"/>
              <a:t>WebSerial</a:t>
            </a:r>
            <a:r>
              <a:rPr lang="de-DE" dirty="0"/>
              <a:t>, </a:t>
            </a:r>
            <a:r>
              <a:rPr lang="de-DE" dirty="0" err="1"/>
              <a:t>WebHID</a:t>
            </a:r>
            <a:endParaRPr lang="de-DE" dirty="0"/>
          </a:p>
          <a:p>
            <a:pPr marL="576263" lvl="2" indent="-342900"/>
            <a:r>
              <a:rPr lang="de-DE" dirty="0"/>
              <a:t>limited </a:t>
            </a:r>
            <a:r>
              <a:rPr lang="de-DE" dirty="0" err="1"/>
              <a:t>device</a:t>
            </a:r>
            <a:r>
              <a:rPr lang="de-DE" dirty="0"/>
              <a:t> </a:t>
            </a:r>
            <a:r>
              <a:rPr lang="de-DE" dirty="0" err="1"/>
              <a:t>access</a:t>
            </a:r>
            <a:endParaRPr lang="de-DE" dirty="0"/>
          </a:p>
          <a:p>
            <a:pPr marL="576263" lvl="2" indent="-342900"/>
            <a:r>
              <a:rPr lang="de-DE" dirty="0"/>
              <a:t>support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chromium-based</a:t>
            </a:r>
            <a:r>
              <a:rPr lang="de-DE" dirty="0"/>
              <a:t> </a:t>
            </a:r>
            <a:r>
              <a:rPr lang="de-DE" dirty="0" err="1"/>
              <a:t>browsers</a:t>
            </a:r>
            <a:r>
              <a:rPr lang="de-DE" dirty="0"/>
              <a:t> </a:t>
            </a:r>
            <a:r>
              <a:rPr lang="de-DE" dirty="0" err="1"/>
              <a:t>only</a:t>
            </a:r>
            <a:endParaRPr lang="de-DE" dirty="0"/>
          </a:p>
          <a:p>
            <a:pPr marL="576263" lvl="2" indent="-342900"/>
            <a:r>
              <a:rPr lang="de-DE" dirty="0" err="1"/>
              <a:t>serial</a:t>
            </a:r>
            <a:r>
              <a:rPr lang="de-DE" dirty="0"/>
              <a:t> </a:t>
            </a:r>
            <a:r>
              <a:rPr lang="de-DE" dirty="0" err="1"/>
              <a:t>flashing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  <a:p>
            <a:pPr marL="576263" lvl="2" indent="-342900"/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accessing</a:t>
            </a:r>
            <a:r>
              <a:rPr lang="de-DE" dirty="0"/>
              <a:t> a </a:t>
            </a:r>
            <a:r>
              <a:rPr lang="de-DE" dirty="0" err="1"/>
              <a:t>device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possible, but...</a:t>
            </a:r>
          </a:p>
          <a:p>
            <a:pPr marL="576263" lvl="2" indent="-342900"/>
            <a:r>
              <a:rPr lang="de-DE" dirty="0"/>
              <a:t>still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flasher</a:t>
            </a:r>
            <a:r>
              <a:rPr lang="de-DE" dirty="0"/>
              <a:t> </a:t>
            </a:r>
            <a:r>
              <a:rPr lang="de-DE" dirty="0" err="1"/>
              <a:t>logic</a:t>
            </a:r>
            <a:r>
              <a:rPr lang="de-DE" dirty="0"/>
              <a:t> in </a:t>
            </a:r>
            <a:r>
              <a:rPr lang="de-DE" dirty="0" err="1"/>
              <a:t>javascript</a:t>
            </a:r>
            <a:endParaRPr lang="de-DE" dirty="0"/>
          </a:p>
          <a:p>
            <a:pPr marL="576263" lvl="2" indent="-342900"/>
            <a:r>
              <a:rPr lang="de-DE" dirty="0" err="1"/>
              <a:t>device</a:t>
            </a:r>
            <a:r>
              <a:rPr lang="de-DE" dirty="0"/>
              <a:t> </a:t>
            </a:r>
            <a:r>
              <a:rPr lang="de-DE" dirty="0" err="1"/>
              <a:t>dependend</a:t>
            </a:r>
            <a:r>
              <a:rPr lang="de-DE" dirty="0"/>
              <a:t> </a:t>
            </a:r>
          </a:p>
          <a:p>
            <a:pPr marL="576263" lvl="2" indent="-342900"/>
            <a:r>
              <a:rPr lang="de-DE" dirty="0" err="1"/>
              <a:t>implementing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flasher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trivial</a:t>
            </a:r>
          </a:p>
        </p:txBody>
      </p:sp>
    </p:spTree>
    <p:extLst>
      <p:ext uri="{BB962C8B-B14F-4D97-AF65-F5344CB8AC3E}">
        <p14:creationId xmlns:p14="http://schemas.microsoft.com/office/powerpoint/2010/main" val="1186647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DE9C2-3D4E-01DB-78DF-543954C2A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E7700CB-2A92-4BD9-45EC-8B2884F26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web </a:t>
            </a:r>
            <a:r>
              <a:rPr lang="de-DE" dirty="0" err="1"/>
              <a:t>hosted</a:t>
            </a:r>
            <a:r>
              <a:rPr lang="de-DE" dirty="0"/>
              <a:t> code </a:t>
            </a:r>
            <a:r>
              <a:rPr lang="de-DE" dirty="0" err="1"/>
              <a:t>editors</a:t>
            </a:r>
            <a:r>
              <a:rPr lang="de-DE" dirty="0"/>
              <a:t>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4EB908C-45A1-6AC1-F1F1-22A84F309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coder</a:t>
            </a:r>
            <a:r>
              <a:rPr lang="de-DE" dirty="0"/>
              <a:t>/code-server:</a:t>
            </a:r>
          </a:p>
          <a:p>
            <a:pPr marL="576263" lvl="2" indent="-342900"/>
            <a:r>
              <a:rPr lang="de-DE" dirty="0" err="1"/>
              <a:t>extension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VSCode</a:t>
            </a:r>
            <a:endParaRPr lang="de-DE" dirty="0"/>
          </a:p>
          <a:p>
            <a:pPr marL="576263" lvl="2" indent="-342900"/>
            <a:r>
              <a:rPr lang="de-DE" dirty="0" err="1"/>
              <a:t>familiarity</a:t>
            </a:r>
            <a:endParaRPr lang="de-DE" dirty="0"/>
          </a:p>
          <a:p>
            <a:pPr marL="576263" lvl="2" indent="-342900"/>
            <a:r>
              <a:rPr lang="de-DE" dirty="0" err="1"/>
              <a:t>extension</a:t>
            </a:r>
            <a:r>
              <a:rPr lang="de-DE" dirty="0"/>
              <a:t> support</a:t>
            </a:r>
          </a:p>
          <a:p>
            <a:pPr marL="576263" lvl="2" indent="-342900"/>
            <a:r>
              <a:rPr lang="de-DE" dirty="0"/>
              <a:t>flexible </a:t>
            </a:r>
            <a:r>
              <a:rPr lang="de-DE" dirty="0" err="1"/>
              <a:t>deployment</a:t>
            </a: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vscode</a:t>
            </a:r>
            <a:r>
              <a:rPr lang="de-DE" dirty="0"/>
              <a:t>-extension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flashing</a:t>
            </a:r>
            <a:r>
              <a:rPr lang="de-DE" dirty="0"/>
              <a:t> </a:t>
            </a:r>
            <a:r>
              <a:rPr lang="de-DE" dirty="0" err="1"/>
              <a:t>devices</a:t>
            </a:r>
            <a:endParaRPr lang="de-DE" dirty="0"/>
          </a:p>
          <a:p>
            <a:pPr marL="576263" lvl="2" indent="-342900"/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deployed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dev</a:t>
            </a:r>
            <a:r>
              <a:rPr lang="de-DE" dirty="0"/>
              <a:t> </a:t>
            </a:r>
            <a:r>
              <a:rPr lang="de-DE" dirty="0" err="1"/>
              <a:t>env</a:t>
            </a:r>
            <a:endParaRPr lang="de-DE" dirty="0"/>
          </a:p>
          <a:p>
            <a:pPr marL="576263" lvl="2" indent="-342900"/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editor-</a:t>
            </a:r>
            <a:r>
              <a:rPr lang="de-DE" dirty="0" err="1"/>
              <a:t>integrated</a:t>
            </a:r>
            <a:r>
              <a:rPr lang="de-DE" dirty="0"/>
              <a:t> </a:t>
            </a:r>
            <a:r>
              <a:rPr lang="de-DE" dirty="0" err="1"/>
              <a:t>management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devices</a:t>
            </a:r>
            <a:endParaRPr lang="de-DE" dirty="0"/>
          </a:p>
          <a:p>
            <a:pPr marL="576263" lvl="2" indent="-342900"/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flashes</a:t>
            </a:r>
            <a:r>
              <a:rPr lang="de-DE" dirty="0"/>
              <a:t> </a:t>
            </a:r>
            <a:r>
              <a:rPr lang="de-DE" dirty="0" err="1"/>
              <a:t>binaries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built</a:t>
            </a:r>
            <a:r>
              <a:rPr lang="de-DE" dirty="0"/>
              <a:t> code</a:t>
            </a:r>
          </a:p>
          <a:p>
            <a:pPr marL="800100" lvl="3" indent="-34290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7667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C0723-B94C-6FF0-D1EC-680ED3842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7F865-E5C7-CCF0-EBC6-ED2821EA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Backend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4085B9-1FC8-A1D9-2028-802E0DB2C7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564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BA7F4C-F7C8-AA09-51B9-5D54DCB9AD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ECBE123B-3CCE-E13C-BB83-E41E63771D9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prstGeom prst="rect">
            <a:avLst/>
          </a:prstGeom>
          <a:solidFill>
            <a:prstClr val="white">
              <a:lumMod val="95000"/>
            </a:prstClr>
          </a:solidFill>
        </p:spPr>
      </p:pic>
    </p:spTree>
    <p:extLst>
      <p:ext uri="{BB962C8B-B14F-4D97-AF65-F5344CB8AC3E}">
        <p14:creationId xmlns:p14="http://schemas.microsoft.com/office/powerpoint/2010/main" val="2237056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C90E2-488C-BA8F-94CC-2952B2C88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C843-0D8B-61F7-B028-BC4D64B1C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A062A-C806-F1F4-5C98-E366AA036A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650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9038B-C91D-D4AF-DD0F-B3F7C00F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D10C92-0301-EC89-9896-48567ACC9C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RIOT Web Editor Architecture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3B0E60B6-0DA2-C5ED-6856-03C63573C21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7085" b="-17085"/>
          <a:stretch>
            <a:fillRect/>
          </a:stretch>
        </p:blipFill>
        <p:spPr>
          <a:prstGeom prst="rect">
            <a:avLst/>
          </a:prstGeom>
          <a:solidFill>
            <a:prstClr val="white">
              <a:lumMod val="95000"/>
            </a:prstClr>
          </a:solidFill>
        </p:spPr>
      </p:pic>
    </p:spTree>
    <p:extLst>
      <p:ext uri="{BB962C8B-B14F-4D97-AF65-F5344CB8AC3E}">
        <p14:creationId xmlns:p14="http://schemas.microsoft.com/office/powerpoint/2010/main" val="579415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48AC3-2857-882B-1232-0E30AA352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9BEF7AB-54A1-F8C3-DF97-0A93165F2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Protocol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355E4097-DD01-ADF6-F7B1-38A326785A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requirements</a:t>
            </a:r>
            <a:r>
              <a:rPr lang="de-DE" dirty="0"/>
              <a:t>:</a:t>
            </a:r>
          </a:p>
          <a:p>
            <a:pPr marL="576263" lvl="2" indent="-342900"/>
            <a:r>
              <a:rPr lang="de-DE" dirty="0" err="1"/>
              <a:t>buttons</a:t>
            </a:r>
            <a:r>
              <a:rPr lang="de-DE" dirty="0"/>
              <a:t> </a:t>
            </a:r>
            <a:r>
              <a:rPr lang="de-DE" dirty="0" err="1"/>
              <a:t>issue</a:t>
            </a:r>
            <a:r>
              <a:rPr lang="de-DE" dirty="0"/>
              <a:t> </a:t>
            </a:r>
            <a:r>
              <a:rPr lang="de-DE" dirty="0" err="1"/>
              <a:t>commands</a:t>
            </a:r>
            <a:r>
              <a:rPr lang="de-DE" dirty="0"/>
              <a:t> (</a:t>
            </a:r>
            <a:r>
              <a:rPr lang="de-DE" dirty="0" err="1"/>
              <a:t>client</a:t>
            </a:r>
            <a:r>
              <a:rPr lang="de-DE" dirty="0"/>
              <a:t> -&gt; </a:t>
            </a:r>
            <a:r>
              <a:rPr lang="de-DE" dirty="0" err="1"/>
              <a:t>shell</a:t>
            </a:r>
            <a:r>
              <a:rPr lang="de-DE" dirty="0"/>
              <a:t>)</a:t>
            </a:r>
          </a:p>
          <a:p>
            <a:pPr marL="576263" lvl="2" indent="-342900"/>
            <a:r>
              <a:rPr lang="de-DE" dirty="0" err="1"/>
              <a:t>commands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sent</a:t>
            </a:r>
            <a:r>
              <a:rPr lang="de-DE" dirty="0"/>
              <a:t> to </a:t>
            </a:r>
            <a:r>
              <a:rPr lang="de-DE" dirty="0" err="1"/>
              <a:t>client</a:t>
            </a:r>
            <a:endParaRPr lang="de-DE" dirty="0"/>
          </a:p>
          <a:p>
            <a:pPr marL="576263" lvl="2" indent="-342900"/>
            <a:r>
              <a:rPr lang="de-DE" dirty="0"/>
              <a:t>log </a:t>
            </a:r>
            <a:r>
              <a:rPr lang="de-DE" dirty="0" err="1"/>
              <a:t>messages</a:t>
            </a:r>
            <a:r>
              <a:rPr lang="de-DE" dirty="0"/>
              <a:t> and </a:t>
            </a:r>
            <a:r>
              <a:rPr lang="de-DE" dirty="0" err="1"/>
              <a:t>user</a:t>
            </a:r>
            <a:r>
              <a:rPr lang="de-DE" dirty="0"/>
              <a:t> input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shared</a:t>
            </a: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/>
              <a:t>human-</a:t>
            </a:r>
            <a:r>
              <a:rPr lang="de-DE" dirty="0" err="1"/>
              <a:t>readable</a:t>
            </a:r>
            <a:r>
              <a:rPr lang="de-DE" dirty="0"/>
              <a:t> and </a:t>
            </a:r>
            <a:r>
              <a:rPr lang="de-DE" dirty="0" err="1"/>
              <a:t>compact</a:t>
            </a: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stateful</a:t>
            </a:r>
            <a:r>
              <a:rPr lang="de-DE" dirty="0"/>
              <a:t>, </a:t>
            </a:r>
            <a:r>
              <a:rPr lang="de-DE" dirty="0" err="1"/>
              <a:t>addressed</a:t>
            </a:r>
            <a:r>
              <a:rPr lang="de-DE" dirty="0"/>
              <a:t> -&gt; </a:t>
            </a:r>
            <a:r>
              <a:rPr lang="de-DE" dirty="0" err="1"/>
              <a:t>parallelism</a:t>
            </a: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endParaRPr lang="de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359E21-B7DC-1E77-7F1A-1129C0086C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646" y="1211905"/>
            <a:ext cx="4728754" cy="443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101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FB2F-2174-63F0-C58F-3333705E7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Deployment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docker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8E1DF-3350-29EF-2A8D-13423E027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package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docker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, </a:t>
            </a:r>
            <a:r>
              <a:rPr lang="de-DE" dirty="0" err="1"/>
              <a:t>containing</a:t>
            </a:r>
            <a:r>
              <a:rPr lang="de-DE" dirty="0"/>
              <a:t>:</a:t>
            </a:r>
          </a:p>
          <a:p>
            <a:pPr marL="576263" lvl="2" indent="-342900"/>
            <a:r>
              <a:rPr lang="de-DE" dirty="0"/>
              <a:t>code-server (</a:t>
            </a:r>
            <a:r>
              <a:rPr lang="de-DE" dirty="0" err="1"/>
              <a:t>autostart</a:t>
            </a:r>
            <a:r>
              <a:rPr lang="de-DE" dirty="0"/>
              <a:t>)</a:t>
            </a:r>
          </a:p>
          <a:p>
            <a:pPr marL="576263" lvl="2" indent="-342900"/>
            <a:r>
              <a:rPr lang="de-DE" dirty="0" err="1"/>
              <a:t>riot</a:t>
            </a:r>
            <a:r>
              <a:rPr lang="de-DE" dirty="0"/>
              <a:t>-web-tools:</a:t>
            </a:r>
          </a:p>
          <a:p>
            <a:pPr marL="800100" lvl="3" indent="-342900"/>
            <a:r>
              <a:rPr lang="de-DE" dirty="0" err="1"/>
              <a:t>relay</a:t>
            </a:r>
            <a:r>
              <a:rPr lang="de-DE" dirty="0"/>
              <a:t> (</a:t>
            </a:r>
            <a:r>
              <a:rPr lang="de-DE" dirty="0" err="1"/>
              <a:t>autostart</a:t>
            </a:r>
            <a:r>
              <a:rPr lang="de-DE" dirty="0"/>
              <a:t>)</a:t>
            </a:r>
          </a:p>
          <a:p>
            <a:pPr marL="800100" lvl="3" indent="-342900"/>
            <a:r>
              <a:rPr lang="de-DE" dirty="0" err="1"/>
              <a:t>shell</a:t>
            </a:r>
            <a:r>
              <a:rPr lang="de-DE" dirty="0"/>
              <a:t> (</a:t>
            </a:r>
            <a:r>
              <a:rPr lang="de-DE" dirty="0" err="1"/>
              <a:t>default</a:t>
            </a:r>
            <a:r>
              <a:rPr lang="de-DE" dirty="0"/>
              <a:t> </a:t>
            </a:r>
            <a:r>
              <a:rPr lang="de-DE" dirty="0" err="1"/>
              <a:t>shell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code-server)</a:t>
            </a:r>
          </a:p>
          <a:p>
            <a:pPr marL="800100" lvl="3" indent="-342900"/>
            <a:r>
              <a:rPr lang="de-DE" dirty="0" err="1"/>
              <a:t>stub</a:t>
            </a:r>
            <a:endParaRPr lang="de-DE" dirty="0"/>
          </a:p>
          <a:p>
            <a:pPr marL="576263" lvl="2" indent="-342900"/>
            <a:r>
              <a:rPr lang="de-DE" dirty="0"/>
              <a:t>RIOT and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dependencies</a:t>
            </a:r>
            <a:endParaRPr lang="de-DE" dirty="0"/>
          </a:p>
          <a:p>
            <a:pPr marL="576263" lvl="2" indent="-342900"/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/</a:t>
            </a:r>
            <a:r>
              <a:rPr lang="de-DE" dirty="0" err="1"/>
              <a:t>home</a:t>
            </a:r>
            <a:r>
              <a:rPr lang="de-DE" dirty="0"/>
              <a:t>/</a:t>
            </a:r>
            <a:r>
              <a:rPr lang="de-DE" dirty="0" err="1"/>
              <a:t>coder</a:t>
            </a:r>
            <a:endParaRPr lang="de-DE" dirty="0"/>
          </a:p>
          <a:p>
            <a:pPr marL="576263" lvl="2" indent="-34290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1403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D7CE72-3797-ACC9-5BAD-04412603E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E0F06F-E56A-DD06-AEFA-40963E674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web APIs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constricted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confined</a:t>
            </a:r>
            <a:r>
              <a:rPr lang="de-DE" dirty="0"/>
              <a:t> </a:t>
            </a:r>
            <a:r>
              <a:rPr lang="de-DE" dirty="0" err="1"/>
              <a:t>VSCode</a:t>
            </a:r>
            <a:r>
              <a:rPr lang="de-DE" dirty="0"/>
              <a:t> web </a:t>
            </a:r>
            <a:r>
              <a:rPr lang="de-DE" dirty="0" err="1"/>
              <a:t>extension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device</a:t>
            </a:r>
            <a:r>
              <a:rPr lang="de-DE" dirty="0"/>
              <a:t> support </a:t>
            </a:r>
            <a:r>
              <a:rPr lang="de-DE" dirty="0" err="1"/>
              <a:t>has</a:t>
            </a:r>
            <a:r>
              <a:rPr lang="de-DE" dirty="0"/>
              <a:t> to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added</a:t>
            </a:r>
            <a:r>
              <a:rPr lang="de-DE" dirty="0"/>
              <a:t> </a:t>
            </a:r>
            <a:r>
              <a:rPr lang="de-DE" dirty="0" err="1"/>
              <a:t>manually</a:t>
            </a:r>
            <a:r>
              <a:rPr lang="de-DE" dirty="0"/>
              <a:t> (flasher.js +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patch</a:t>
            </a:r>
            <a:r>
              <a:rPr lang="de-DE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devices</a:t>
            </a:r>
            <a:r>
              <a:rPr lang="de-DE" dirty="0"/>
              <a:t> still </a:t>
            </a:r>
            <a:r>
              <a:rPr lang="de-DE" dirty="0" err="1"/>
              <a:t>require</a:t>
            </a:r>
            <a:r>
              <a:rPr lang="de-DE" dirty="0"/>
              <a:t> a </a:t>
            </a:r>
            <a:r>
              <a:rPr lang="de-DE" dirty="0" err="1"/>
              <a:t>driver</a:t>
            </a:r>
            <a:r>
              <a:rPr lang="de-DE" dirty="0"/>
              <a:t> to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recognized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os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1 </a:t>
            </a:r>
            <a:r>
              <a:rPr lang="de-DE" dirty="0" err="1"/>
              <a:t>container</a:t>
            </a:r>
            <a:r>
              <a:rPr lang="de-DE" dirty="0"/>
              <a:t> – 1 </a:t>
            </a:r>
            <a:r>
              <a:rPr lang="de-DE" dirty="0" err="1"/>
              <a:t>user</a:t>
            </a:r>
            <a:endParaRPr lang="de-DE" dirty="0"/>
          </a:p>
          <a:p>
            <a:pPr marL="576263" lvl="2" indent="-342900"/>
            <a:r>
              <a:rPr lang="de-DE" dirty="0"/>
              <a:t>will </a:t>
            </a:r>
            <a:r>
              <a:rPr lang="de-DE" dirty="0" err="1"/>
              <a:t>require</a:t>
            </a:r>
            <a:r>
              <a:rPr lang="de-DE" dirty="0"/>
              <a:t> a </a:t>
            </a:r>
            <a:r>
              <a:rPr lang="de-DE" dirty="0" err="1"/>
              <a:t>solution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spinup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container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924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5687C6-B809-8B7A-9B61-AC4753C91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Features / Support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06B6A-4CEB-8480-893A-23E5FB9B4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flash</a:t>
            </a:r>
            <a:r>
              <a:rPr lang="de-DE" dirty="0"/>
              <a:t> and </a:t>
            </a:r>
            <a:r>
              <a:rPr lang="de-DE" dirty="0" err="1"/>
              <a:t>term</a:t>
            </a:r>
            <a:r>
              <a:rPr lang="de-DE" dirty="0"/>
              <a:t> via:</a:t>
            </a:r>
          </a:p>
          <a:p>
            <a:pPr marL="576263" lvl="2" indent="-342900"/>
            <a:r>
              <a:rPr lang="de-DE" dirty="0"/>
              <a:t>UI</a:t>
            </a:r>
          </a:p>
          <a:p>
            <a:pPr marL="576263" lvl="2" indent="-342900"/>
            <a:r>
              <a:rPr lang="de-DE" dirty="0"/>
              <a:t>CLI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coherent</a:t>
            </a:r>
            <a:r>
              <a:rPr lang="de-DE" dirty="0"/>
              <a:t> UI / CLI </a:t>
            </a:r>
            <a:r>
              <a:rPr lang="de-DE" dirty="0" err="1"/>
              <a:t>experience</a:t>
            </a: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/>
              <a:t>multiple </a:t>
            </a:r>
            <a:r>
              <a:rPr lang="de-DE" dirty="0" err="1"/>
              <a:t>devices</a:t>
            </a:r>
            <a:r>
              <a:rPr lang="de-DE" dirty="0"/>
              <a:t> and </a:t>
            </a:r>
            <a:r>
              <a:rPr lang="de-DE" dirty="0" err="1"/>
              <a:t>projects</a:t>
            </a: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boards</a:t>
            </a:r>
            <a:r>
              <a:rPr lang="de-DE" dirty="0"/>
              <a:t>:</a:t>
            </a:r>
          </a:p>
          <a:p>
            <a:pPr marL="576263" lvl="2" indent="-342900"/>
            <a:r>
              <a:rPr lang="de-DE" dirty="0"/>
              <a:t>adafruit-nrf52840 (RIOT kit)</a:t>
            </a:r>
          </a:p>
          <a:p>
            <a:pPr marL="576263" lvl="2" indent="-342900"/>
            <a:r>
              <a:rPr lang="de-DE" dirty="0" err="1"/>
              <a:t>esp</a:t>
            </a:r>
            <a:r>
              <a:rPr lang="de-DE" dirty="0"/>
              <a:t> (all)</a:t>
            </a:r>
          </a:p>
        </p:txBody>
      </p:sp>
    </p:spTree>
    <p:extLst>
      <p:ext uri="{BB962C8B-B14F-4D97-AF65-F5344CB8AC3E}">
        <p14:creationId xmlns:p14="http://schemas.microsoft.com/office/powerpoint/2010/main" val="4015091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4D4D3B-073D-1EBF-720B-3E19ACC6F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CE912E-1494-0E7F-BF9A-7E15C243C0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9765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6B971D-CC07-16FE-2A20-571BD369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Work / Final </a:t>
            </a:r>
            <a:r>
              <a:rPr lang="de-DE" dirty="0" err="1"/>
              <a:t>Deployment</a:t>
            </a:r>
            <a:endParaRPr lang="de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36BC87-2004-A110-D896-7BC92E3A4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provide</a:t>
            </a:r>
            <a:r>
              <a:rPr lang="de-DE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docker</a:t>
            </a:r>
            <a:r>
              <a:rPr lang="de-DE" dirty="0"/>
              <a:t> </a:t>
            </a:r>
            <a:r>
              <a:rPr lang="de-DE" dirty="0" err="1"/>
              <a:t>container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editor</a:t>
            </a:r>
            <a:r>
              <a:rPr lang="de-DE" dirty="0"/>
              <a:t>, </a:t>
            </a:r>
            <a:r>
              <a:rPr lang="de-DE" dirty="0" err="1"/>
              <a:t>flasher</a:t>
            </a:r>
            <a:r>
              <a:rPr lang="de-DE" dirty="0"/>
              <a:t>, </a:t>
            </a:r>
            <a:r>
              <a:rPr lang="de-DE" dirty="0" err="1"/>
              <a:t>toolchain</a:t>
            </a:r>
            <a:endParaRPr lang="de-DE" dirty="0"/>
          </a:p>
          <a:p>
            <a:r>
              <a:rPr lang="de-DE" dirty="0" err="1"/>
              <a:t>what‘s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container</a:t>
            </a:r>
            <a:r>
              <a:rPr lang="de-DE" dirty="0"/>
              <a:t> </a:t>
            </a:r>
            <a:r>
              <a:rPr lang="de-DE" dirty="0" err="1"/>
              <a:t>managment</a:t>
            </a:r>
            <a:r>
              <a:rPr lang="de-DE" dirty="0"/>
              <a:t> (UI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container</a:t>
            </a:r>
            <a:r>
              <a:rPr lang="de-DE" dirty="0"/>
              <a:t> </a:t>
            </a:r>
            <a:r>
              <a:rPr lang="de-DE" dirty="0" err="1"/>
              <a:t>request</a:t>
            </a:r>
            <a:r>
              <a:rPr lang="de-DE" dirty="0"/>
              <a:t>) -&gt; </a:t>
            </a:r>
            <a:r>
              <a:rPr lang="de-DE" dirty="0" err="1"/>
              <a:t>custom</a:t>
            </a:r>
            <a:r>
              <a:rPr lang="de-DE" dirty="0"/>
              <a:t> </a:t>
            </a:r>
            <a:r>
              <a:rPr lang="de-DE" dirty="0" err="1"/>
              <a:t>website</a:t>
            </a:r>
            <a:r>
              <a:rPr lang="de-DE" dirty="0"/>
              <a:t>, ZIH?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reverse </a:t>
            </a:r>
            <a:r>
              <a:rPr lang="de-DE" dirty="0" err="1"/>
              <a:t>proxy</a:t>
            </a:r>
            <a:r>
              <a:rPr lang="de-DE" dirty="0"/>
              <a:t> (SSL </a:t>
            </a:r>
            <a:r>
              <a:rPr lang="de-DE" dirty="0" err="1"/>
              <a:t>termination</a:t>
            </a:r>
            <a:r>
              <a:rPr lang="de-DE" dirty="0"/>
              <a:t> + </a:t>
            </a:r>
            <a:r>
              <a:rPr lang="de-DE" dirty="0" err="1"/>
              <a:t>container</a:t>
            </a:r>
            <a:r>
              <a:rPr lang="de-DE" dirty="0"/>
              <a:t> </a:t>
            </a:r>
            <a:r>
              <a:rPr lang="de-DE" dirty="0" err="1"/>
              <a:t>discovery</a:t>
            </a:r>
            <a:r>
              <a:rPr lang="de-DE" dirty="0"/>
              <a:t>) -&gt; </a:t>
            </a:r>
            <a:r>
              <a:rPr lang="de-DE" dirty="0" err="1"/>
              <a:t>traefik</a:t>
            </a:r>
            <a:endParaRPr lang="de-DE" dirty="0"/>
          </a:p>
          <a:p>
            <a:r>
              <a:rPr lang="de-DE" dirty="0"/>
              <a:t>optional </a:t>
            </a:r>
            <a:r>
              <a:rPr lang="de-DE" dirty="0" err="1"/>
              <a:t>improvements</a:t>
            </a:r>
            <a:r>
              <a:rPr lang="de-DE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update RIOTs native </a:t>
            </a:r>
            <a:r>
              <a:rPr lang="de-DE" dirty="0" err="1"/>
              <a:t>dockerbuild</a:t>
            </a:r>
            <a:r>
              <a:rPr lang="de-DE" dirty="0"/>
              <a:t> </a:t>
            </a:r>
            <a:r>
              <a:rPr lang="de-DE" dirty="0" err="1"/>
              <a:t>img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base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web </a:t>
            </a:r>
            <a:r>
              <a:rPr lang="de-DE" dirty="0" err="1"/>
              <a:t>editor</a:t>
            </a:r>
            <a:r>
              <a:rPr lang="de-DE" dirty="0"/>
              <a:t> </a:t>
            </a:r>
            <a:r>
              <a:rPr lang="de-DE" dirty="0" err="1"/>
              <a:t>img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19382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367F1D1-9BDF-981A-6F45-995A8672C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attention</a:t>
            </a:r>
            <a:endParaRPr lang="de-DE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8D9D380-B62B-0405-3046-7AF0DB6B6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RIOT-Web-Editor: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>
                <a:hlinkClick r:id="rId2"/>
              </a:rPr>
              <a:t>https://github.com/cheater78/RIOT-WebEditor</a:t>
            </a:r>
            <a:endParaRPr lang="de-DE" dirty="0"/>
          </a:p>
          <a:p>
            <a:r>
              <a:rPr lang="de-DE" dirty="0"/>
              <a:t>RIOT-VS-Code-Extension (</a:t>
            </a:r>
            <a:r>
              <a:rPr lang="de-DE" dirty="0" err="1"/>
              <a:t>submodule</a:t>
            </a:r>
            <a:r>
              <a:rPr lang="de-DE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>
                <a:hlinkClick r:id="rId3"/>
              </a:rPr>
              <a:t>https://github.com/Barkolores/RIOT-VS-Code-Extension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50408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3CB6F2-E922-90E8-E828-1985D0961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05EB50-3C74-E111-ACAF-00A6DF7F09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4551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84346-9DF2-55A8-9F86-6DD431DF1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502C05F-B9B6-AFD5-1D76-03CF738DD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Shell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AE1CB743-B9C4-E1C1-356B-BF282EB2A7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459" y="1375954"/>
            <a:ext cx="8683082" cy="4422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787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2CAE8-B7F6-6BA4-6054-43CF7BDB6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Relay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C648C3-5402-772B-1614-721EA33D14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600" y="2041281"/>
            <a:ext cx="7344800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652635"/>
      </p:ext>
    </p:extLst>
  </p:cSld>
  <p:clrMapOvr>
    <a:masterClrMapping/>
  </p:clrMapOvr>
</p:sld>
</file>

<file path=ppt/theme/theme1.xml><?xml version="1.0" encoding="utf-8"?>
<a:theme xmlns:a="http://schemas.openxmlformats.org/drawingml/2006/main" name="TUD Standard_20 pt">
  <a:themeElements>
    <a:clrScheme name="Farbset dunkel TUD CD">
      <a:dk1>
        <a:sysClr val="windowText" lastClr="000000"/>
      </a:dk1>
      <a:lt1>
        <a:sysClr val="window" lastClr="FFFFFF"/>
      </a:lt1>
      <a:dk2>
        <a:srgbClr val="00008C"/>
      </a:dk2>
      <a:lt2>
        <a:srgbClr val="FFFFFF"/>
      </a:lt2>
      <a:accent1>
        <a:srgbClr val="7369BE"/>
      </a:accent1>
      <a:accent2>
        <a:srgbClr val="BC1589"/>
      </a:accent2>
      <a:accent3>
        <a:srgbClr val="C85000"/>
      </a:accent3>
      <a:accent4>
        <a:srgbClr val="FFC700"/>
      </a:accent4>
      <a:accent5>
        <a:srgbClr val="2F57B2"/>
      </a:accent5>
      <a:accent6>
        <a:srgbClr val="0A777F"/>
      </a:accent6>
      <a:hlink>
        <a:srgbClr val="00008C"/>
      </a:hlink>
      <a:folHlink>
        <a:srgbClr val="00008C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51106_TUD_Präsentationsvorlage_16zu9_leer.potx" id="{A27832DB-5D38-4212-9611-DD26E22AA147}" vid="{855A19AF-23FD-4038-B911-F867C9011DAF}"/>
    </a:ext>
  </a:extLst>
</a:theme>
</file>

<file path=ppt/theme/theme2.xml><?xml version="1.0" encoding="utf-8"?>
<a:theme xmlns:a="http://schemas.openxmlformats.org/drawingml/2006/main" name="Seiten mit Shape variabel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51106_TUD_Präsentationsvorlage_16zu9_leer.potx" id="{A27832DB-5D38-4212-9611-DD26E22AA147}" vid="{B6C18103-FCC1-443E-9341-ECEF965D535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RIoTPresentation</Template>
  <TotalTime>0</TotalTime>
  <Words>806</Words>
  <Application>Microsoft Office PowerPoint</Application>
  <PresentationFormat>Widescreen</PresentationFormat>
  <Paragraphs>201</Paragraphs>
  <Slides>19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0" baseType="lpstr">
      <vt:lpstr>Arial</vt:lpstr>
      <vt:lpstr>Calibri</vt:lpstr>
      <vt:lpstr>Noto Sans</vt:lpstr>
      <vt:lpstr>Noto Sans Medium</vt:lpstr>
      <vt:lpstr>Noto Serif</vt:lpstr>
      <vt:lpstr>Noto Serif (Textkörper)</vt:lpstr>
      <vt:lpstr>Noto Serif Light</vt:lpstr>
      <vt:lpstr>Open Sans</vt:lpstr>
      <vt:lpstr>Symbol</vt:lpstr>
      <vt:lpstr>TUD Standard_20 pt</vt:lpstr>
      <vt:lpstr>Seiten mit Shape variabel</vt:lpstr>
      <vt:lpstr>Flashing RIOT from a browser</vt:lpstr>
      <vt:lpstr>Idea</vt:lpstr>
      <vt:lpstr>Goals</vt:lpstr>
      <vt:lpstr>How to flash an MCU from a browser?</vt:lpstr>
      <vt:lpstr>What about web hosted code editors?</vt:lpstr>
      <vt:lpstr>Backend</vt:lpstr>
      <vt:lpstr>PowerPoint Presentation</vt:lpstr>
      <vt:lpstr>Architecture</vt:lpstr>
      <vt:lpstr>PowerPoint Presentation</vt:lpstr>
      <vt:lpstr>Protocol</vt:lpstr>
      <vt:lpstr>Deployment with docker</vt:lpstr>
      <vt:lpstr>Limitations</vt:lpstr>
      <vt:lpstr>Features / Support</vt:lpstr>
      <vt:lpstr>Demo</vt:lpstr>
      <vt:lpstr>Future Work / Final Deployment</vt:lpstr>
      <vt:lpstr>Thanks for your attention</vt:lpstr>
      <vt:lpstr>PowerPoint Presentation</vt:lpstr>
      <vt:lpstr>Shell</vt:lpstr>
      <vt:lpstr>Relay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cheater 78</dc:creator>
  <cp:lastModifiedBy>cheater 78</cp:lastModifiedBy>
  <cp:revision>39</cp:revision>
  <dcterms:created xsi:type="dcterms:W3CDTF">2026-03-23T15:10:47Z</dcterms:created>
  <dcterms:modified xsi:type="dcterms:W3CDTF">2026-03-25T15:12:10Z</dcterms:modified>
</cp:coreProperties>
</file>